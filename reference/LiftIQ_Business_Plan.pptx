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ec65e89-99c7-bf74-1c1a-0494d19682bd}">
          <p14:sldIdLst>
            <p14:sldId id="256"/>
            <p14:sldId id="257"/>
            <p14:sldId id="258"/>
            <p14:sldId id="259"/>
          </p14:sldIdLst>
        </p14:section>
        <p14:section name="Business and product" id="{f6284941-8f39-1806-5f75-870f8002bcc2}">
          <p14:sldIdLst>
            <p14:sldId id="260"/>
            <p14:sldId id="261"/>
            <p14:sldId id="262"/>
            <p14:sldId id="263"/>
          </p14:sldIdLst>
        </p14:section>
        <p14:section name="Plan and finance" id="{c4645267-0f1b-6fd4-4864-faf9575edca6}">
          <p14:sldIdLst>
            <p14:sldId id="264"/>
            <p14:sldId id="265"/>
            <p14:sldId id="266"/>
            <p14:sldId id="267"/>
          </p14:sldIdLst>
        </p14:section>
        <p14:section name="Wrap-up" id="{3c7ffebe-5706-96be-954b-7a1ab9bde86a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LiftIQ: an AI-powered predictive crowd management system that retrofits onto existing lifts. Group No. 9: Ultron.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One-paragraph summary of the whole plan. Stress that figures are planning assumptions, to be validated by a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Vision is the long-term picture, mission is what we do now. Values show how we will behave.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roles. Be upfront that elevator-safety and hardware expertise will come from advisors and partners.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through deployment, then the daily operating loop. The feedback loop is the data-network advantage.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sits between the building’s existing CCTV and the existing lifts. Nothing inside the lift shaft is replaced.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Benefits are targets until the pilot measures them. Pricing is an assumption to test with RWAs.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a narrow target: committees of tall societies in Mumbai. Trust comes from pilots and measured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quarters: validate, build, pilot, launch. Each quarter ends with a decision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Strengths and weaknesses are internal, opportunities and threats external. Be candid about the weaknesses: they set the Year-1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Three-year view in rupees lakh. Every number is an assumption until a costed BOM, a pricing study and a pilot confirm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real competition is not other startups but OEM smart dispatch, replacement, and doing nothing. Few direct AI-retrofit rivals are known; confirm with a market and patent 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Road Test named unproven willingness to pay as the most likely killer risk, so the first quarter targets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three asks.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74520"/>
            <a:ext cx="71323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7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7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91840"/>
            <a:ext cx="65836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412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LiftIQ  |  Business Plan  |  Group No. 9: Ultron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1"/>
                </a:solidFill>
              </a:rPr>
              <a:t>BUSINESS PLAN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74520"/>
            <a:ext cx="7132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LiftIQ</a:t>
            </a:r>
            <a:endParaRPr lang="en-US" sz="7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29184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AI-powered predictive crowd management for the lifts you already have</a:t>
            </a:r>
            <a:endParaRPr lang="en-US" sz="2200" dirty="0"/>
          </a:p>
        </p:txBody>
      </p:sp>
      <p:sp>
        <p:nvSpPr>
          <p:cNvPr id="5" name="Group name"/>
          <p:cNvSpPr txBox="1"/>
          <p:nvPr/>
        </p:nvSpPr>
        <p:spPr>
          <a:xfrm>
            <a:off x="731520" y="5074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Group No. 9: Ultron</a:t>
            </a:r>
            <a:endParaRPr lang="en-US" sz="1800" dirty="0"/>
          </a:p>
        </p:txBody>
      </p:sp>
      <p:sp>
        <p:nvSpPr>
          <p:cNvPr id="6" name="UCIDs"/>
          <p:cNvSpPr txBox="1"/>
          <p:nvPr/>
        </p:nvSpPr>
        <p:spPr>
          <a:xfrm>
            <a:off x="731520" y="5440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UCIDs 11, 15, 25, 62</a:t>
            </a:r>
            <a:endParaRPr lang="en-US" sz="1400" dirty="0"/>
          </a:p>
        </p:txBody>
      </p:sp>
      <p:sp>
        <p:nvSpPr>
          <p:cNvPr id="7" name="Lift panel"/>
          <p:cNvSpPr/>
          <p:nvPr/>
        </p:nvSpPr>
        <p:spPr>
          <a:xfrm>
            <a:off x="8412480" y="822960"/>
            <a:ext cx="3200400" cy="521208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/>
        </p:spPr>
      </p:sp>
      <p:sp>
        <p:nvSpPr>
          <p:cNvPr id="8" name="Floor display"/>
          <p:cNvSpPr/>
          <p:nvPr/>
        </p:nvSpPr>
        <p:spPr>
          <a:xfrm>
            <a:off x="8778240" y="1188720"/>
            <a:ext cx="2468880" cy="9144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/>
        </p:spPr>
      </p:sp>
      <p:sp>
        <p:nvSpPr>
          <p:cNvPr id="9" name="Up indicator"/>
          <p:cNvSpPr/>
          <p:nvPr/>
        </p:nvSpPr>
        <p:spPr>
          <a:xfrm>
            <a:off x="9098280" y="1463040"/>
            <a:ext cx="365760" cy="347472"/>
          </a:xfrm>
          <a:prstGeom prst="triangle">
            <a:avLst/>
          </a:prstGeom>
          <a:solidFill>
            <a:schemeClr val="accent1"/>
          </a:solidFill>
          <a:ln/>
        </p:spPr>
      </p:sp>
      <p:sp>
        <p:nvSpPr>
          <p:cNvPr id="10" name="Floor number"/>
          <p:cNvSpPr txBox="1"/>
          <p:nvPr/>
        </p:nvSpPr>
        <p:spPr>
          <a:xfrm>
            <a:off x="9692640" y="12344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07</a:t>
            </a:r>
            <a:endParaRPr lang="en-US" sz="4000" dirty="0"/>
          </a:p>
        </p:txBody>
      </p:sp>
      <p:sp>
        <p:nvSpPr>
          <p:cNvPr id="11" name="Button 7"/>
          <p:cNvSpPr/>
          <p:nvPr/>
        </p:nvSpPr>
        <p:spPr>
          <a:xfrm>
            <a:off x="9098280" y="2514600"/>
            <a:ext cx="640080" cy="64008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2" name="Button 7 label"/>
          <p:cNvSpPr txBox="1"/>
          <p:nvPr/>
        </p:nvSpPr>
        <p:spPr>
          <a:xfrm>
            <a:off x="909828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7</a:t>
            </a:r>
            <a:endParaRPr lang="en-US" sz="2000" dirty="0"/>
          </a:p>
        </p:txBody>
      </p:sp>
      <p:sp>
        <p:nvSpPr>
          <p:cNvPr id="13" name="Button 8"/>
          <p:cNvSpPr/>
          <p:nvPr/>
        </p:nvSpPr>
        <p:spPr>
          <a:xfrm>
            <a:off x="10287000" y="2514600"/>
            <a:ext cx="640080" cy="64008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4" name="Button 8 label"/>
          <p:cNvSpPr txBox="1"/>
          <p:nvPr/>
        </p:nvSpPr>
        <p:spPr>
          <a:xfrm>
            <a:off x="1028700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8</a:t>
            </a:r>
            <a:endParaRPr lang="en-US" sz="2000" dirty="0"/>
          </a:p>
        </p:txBody>
      </p:sp>
      <p:sp>
        <p:nvSpPr>
          <p:cNvPr id="15" name="Button 5"/>
          <p:cNvSpPr/>
          <p:nvPr/>
        </p:nvSpPr>
        <p:spPr>
          <a:xfrm>
            <a:off x="9098280" y="33832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Button 5 label"/>
          <p:cNvSpPr txBox="1"/>
          <p:nvPr/>
        </p:nvSpPr>
        <p:spPr>
          <a:xfrm>
            <a:off x="909828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5</a:t>
            </a:r>
            <a:endParaRPr lang="en-US" sz="2000" dirty="0"/>
          </a:p>
        </p:txBody>
      </p:sp>
      <p:sp>
        <p:nvSpPr>
          <p:cNvPr id="17" name="Button 6"/>
          <p:cNvSpPr/>
          <p:nvPr/>
        </p:nvSpPr>
        <p:spPr>
          <a:xfrm>
            <a:off x="10287000" y="3383280"/>
            <a:ext cx="640080" cy="64008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8" name="Button 6 label"/>
          <p:cNvSpPr txBox="1"/>
          <p:nvPr/>
        </p:nvSpPr>
        <p:spPr>
          <a:xfrm>
            <a:off x="1028700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19" name="Button 3"/>
          <p:cNvSpPr/>
          <p:nvPr/>
        </p:nvSpPr>
        <p:spPr>
          <a:xfrm>
            <a:off x="9098280" y="4251960"/>
            <a:ext cx="640080" cy="64008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0" name="Button 3 label"/>
          <p:cNvSpPr txBox="1"/>
          <p:nvPr/>
        </p:nvSpPr>
        <p:spPr>
          <a:xfrm>
            <a:off x="9098280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1" name="Button 4"/>
          <p:cNvSpPr/>
          <p:nvPr/>
        </p:nvSpPr>
        <p:spPr>
          <a:xfrm>
            <a:off x="10287000" y="4251960"/>
            <a:ext cx="640080" cy="64008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2" name="Button 4 label"/>
          <p:cNvSpPr txBox="1"/>
          <p:nvPr/>
        </p:nvSpPr>
        <p:spPr>
          <a:xfrm>
            <a:off x="10287000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3" name="Button 1"/>
          <p:cNvSpPr/>
          <p:nvPr/>
        </p:nvSpPr>
        <p:spPr>
          <a:xfrm>
            <a:off x="9098280" y="5120640"/>
            <a:ext cx="640080" cy="64008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4" name="Button 1 label"/>
          <p:cNvSpPr txBox="1"/>
          <p:nvPr/>
        </p:nvSpPr>
        <p:spPr>
          <a:xfrm>
            <a:off x="9098280" y="5120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25" name="Button 2"/>
          <p:cNvSpPr/>
          <p:nvPr/>
        </p:nvSpPr>
        <p:spPr>
          <a:xfrm>
            <a:off x="10287000" y="5120640"/>
            <a:ext cx="640080" cy="64008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6" name="Button 2 label"/>
          <p:cNvSpPr txBox="1"/>
          <p:nvPr/>
        </p:nvSpPr>
        <p:spPr>
          <a:xfrm>
            <a:off x="10287000" y="5120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xecutive Summary button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Executive Summary icon" descr="Executive Summary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608990"/>
            <a:ext cx="336499" cy="336499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Executive Summary</a:t>
            </a:r>
            <a:endParaRPr lang="en-US" sz="3400" dirty="0"/>
          </a:p>
        </p:txBody>
      </p:sp>
      <p:sp>
        <p:nvSpPr>
          <p:cNvPr id="6" name="Summary card"/>
          <p:cNvSpPr/>
          <p:nvPr/>
        </p:nvSpPr>
        <p:spPr>
          <a:xfrm>
            <a:off x="548640" y="1463040"/>
            <a:ext cx="704088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7" name="Summary text"/>
          <p:cNvSpPr txBox="1"/>
          <p:nvPr/>
        </p:nvSpPr>
        <p:spPr>
          <a:xfrm>
            <a:off x="914400" y="1783080"/>
            <a:ext cx="6309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LiftIQ is an AI-powered predictive crowd management system that retrofits onto existing elevators. It reuses a building’s lobby CCTV feeds and adds an external edge-AI controller that predicts floor-wise demand and optimises lift dispatch, with no lift replacement and no OEM control-board changes. Residents of high-rise societies lose 5–15 minutes a day to overcrowded lifts, and housing committees want a fix far cheaper than new lifts. We sell to Resident Welfare Associations for a one-time installation fee plus a monthly subscription, starting in Mumbai and later extending to offices, malls, hospitals and metro stations. Our model projects operating breakeven in Year 3 on about ₹35 lakh of seed funding.</a:t>
            </a:r>
            <a:endParaRPr lang="en-US" sz="1800" dirty="0"/>
          </a:p>
        </p:txBody>
      </p:sp>
      <p:sp>
        <p:nvSpPr>
          <p:cNvPr id="8" name="Stat card 1"/>
          <p:cNvSpPr/>
          <p:nvPr/>
        </p:nvSpPr>
        <p:spPr>
          <a:xfrm>
            <a:off x="7863840" y="1463040"/>
            <a:ext cx="3776472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sp>
        <p:nvSpPr>
          <p:cNvPr id="9" name="Stat value 1"/>
          <p:cNvSpPr txBox="1"/>
          <p:nvPr/>
        </p:nvSpPr>
        <p:spPr>
          <a:xfrm>
            <a:off x="8138160" y="1600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5–15 min</a:t>
            </a:r>
            <a:endParaRPr lang="en-US" sz="3800" dirty="0"/>
          </a:p>
        </p:txBody>
      </p:sp>
      <p:sp>
        <p:nvSpPr>
          <p:cNvPr id="10" name="Stat label 1"/>
          <p:cNvSpPr txBox="1"/>
          <p:nvPr/>
        </p:nvSpPr>
        <p:spPr>
          <a:xfrm>
            <a:off x="8138160" y="22677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lost per resident daily at peak hours (to be validated)</a:t>
            </a:r>
            <a:endParaRPr lang="en-US" sz="1400" dirty="0"/>
          </a:p>
        </p:txBody>
      </p:sp>
      <p:sp>
        <p:nvSpPr>
          <p:cNvPr id="11" name="Stat card 2"/>
          <p:cNvSpPr/>
          <p:nvPr/>
        </p:nvSpPr>
        <p:spPr>
          <a:xfrm>
            <a:off x="7863840" y="2926080"/>
            <a:ext cx="3776472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sp>
        <p:nvSpPr>
          <p:cNvPr id="12" name="Stat value 2"/>
          <p:cNvSpPr txBox="1"/>
          <p:nvPr/>
        </p:nvSpPr>
        <p:spPr>
          <a:xfrm>
            <a:off x="8138160" y="3063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₹35L</a:t>
            </a:r>
            <a:endParaRPr lang="en-US" sz="3800" dirty="0"/>
          </a:p>
        </p:txBody>
      </p:sp>
      <p:sp>
        <p:nvSpPr>
          <p:cNvPr id="13" name="Stat label 2"/>
          <p:cNvSpPr txBox="1"/>
          <p:nvPr/>
        </p:nvSpPr>
        <p:spPr>
          <a:xfrm>
            <a:off x="8138160" y="37307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seed funding needed to reach breakeven</a:t>
            </a:r>
            <a:endParaRPr lang="en-US" sz="1400" dirty="0"/>
          </a:p>
        </p:txBody>
      </p:sp>
      <p:sp>
        <p:nvSpPr>
          <p:cNvPr id="14" name="Stat card 3"/>
          <p:cNvSpPr/>
          <p:nvPr/>
        </p:nvSpPr>
        <p:spPr>
          <a:xfrm>
            <a:off x="7863840" y="4389120"/>
            <a:ext cx="3776472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sp>
        <p:nvSpPr>
          <p:cNvPr id="15" name="Stat value 3"/>
          <p:cNvSpPr txBox="1"/>
          <p:nvPr/>
        </p:nvSpPr>
        <p:spPr>
          <a:xfrm>
            <a:off x="8138160" y="45262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Year 3</a:t>
            </a:r>
            <a:endParaRPr lang="en-US" sz="3800" dirty="0"/>
          </a:p>
        </p:txBody>
      </p:sp>
      <p:sp>
        <p:nvSpPr>
          <p:cNvPr id="16" name="Stat label 3"/>
          <p:cNvSpPr txBox="1"/>
          <p:nvPr/>
        </p:nvSpPr>
        <p:spPr>
          <a:xfrm>
            <a:off x="8138160" y="51937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projected operating breakeven</a:t>
            </a:r>
            <a:endParaRPr lang="en-US" sz="1400" dirty="0"/>
          </a:p>
        </p:txBody>
      </p:sp>
      <p:sp>
        <p:nvSpPr>
          <p:cNvPr id="17" name="Stage note"/>
          <p:cNvSpPr txBox="1"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Stage: concept, pre-pilot. Market and financial figures are planning assumptions.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sion &amp; Mission button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Vision &amp; Mission icon" descr="Vision &amp; Missio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608990"/>
            <a:ext cx="336499" cy="336499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Vision &amp; Mission</a:t>
            </a:r>
            <a:endParaRPr lang="en-US" sz="3400" dirty="0"/>
          </a:p>
        </p:txBody>
      </p:sp>
      <p:sp>
        <p:nvSpPr>
          <p:cNvPr id="6" name="Vision card"/>
          <p:cNvSpPr/>
          <p:nvPr/>
        </p:nvSpPr>
        <p:spPr>
          <a:xfrm>
            <a:off x="548640" y="1417320"/>
            <a:ext cx="5440680" cy="2834640"/>
          </a:xfrm>
          <a:prstGeom prst="roundRect">
            <a:avLst>
              <a:gd name="adj" fmla="val 3871"/>
            </a:avLst>
          </a:prstGeom>
          <a:solidFill>
            <a:schemeClr val="tx1"/>
          </a:solidFill>
          <a:ln/>
        </p:spPr>
      </p:sp>
      <p:sp>
        <p:nvSpPr>
          <p:cNvPr id="7" name="Vision label"/>
          <p:cNvSpPr txBox="1"/>
          <p:nvPr/>
        </p:nvSpPr>
        <p:spPr>
          <a:xfrm>
            <a:off x="91440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VISION</a:t>
            </a:r>
            <a:endParaRPr lang="en-US" sz="1400" dirty="0"/>
          </a:p>
        </p:txBody>
      </p:sp>
      <p:sp>
        <p:nvSpPr>
          <p:cNvPr id="8" name="Vision statement"/>
          <p:cNvSpPr txBox="1"/>
          <p:nvPr/>
        </p:nvSpPr>
        <p:spPr>
          <a:xfrm>
            <a:off x="914400" y="2103120"/>
            <a:ext cx="4709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Waiting for a lift becomes a thing of the past, in every building and every Indian city.</a:t>
            </a:r>
            <a:endParaRPr lang="en-US" sz="2800" dirty="0"/>
          </a:p>
        </p:txBody>
      </p:sp>
      <p:sp>
        <p:nvSpPr>
          <p:cNvPr id="9" name="Mission card"/>
          <p:cNvSpPr/>
          <p:nvPr/>
        </p:nvSpPr>
        <p:spPr>
          <a:xfrm>
            <a:off x="6199632" y="1417320"/>
            <a:ext cx="544068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/>
        </p:spPr>
      </p:sp>
      <p:sp>
        <p:nvSpPr>
          <p:cNvPr id="10" name="Mission label"/>
          <p:cNvSpPr txBox="1"/>
          <p:nvPr/>
        </p:nvSpPr>
        <p:spPr>
          <a:xfrm>
            <a:off x="6565392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MISSION</a:t>
            </a:r>
            <a:endParaRPr lang="en-US" sz="1400" dirty="0"/>
          </a:p>
        </p:txBody>
      </p:sp>
      <p:sp>
        <p:nvSpPr>
          <p:cNvPr id="11" name="Mission statement"/>
          <p:cNvSpPr txBox="1"/>
          <p:nvPr/>
        </p:nvSpPr>
        <p:spPr>
          <a:xfrm>
            <a:off x="6565392" y="210312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To turn existing lifts into smart lifts with AI and a low-cost retrofit, so residents, especially elderly people and families, spend less time waiting and more time living.</a:t>
            </a:r>
            <a:endParaRPr lang="en-US" sz="2000" dirty="0"/>
          </a:p>
        </p:txBody>
      </p:sp>
      <p:sp>
        <p:nvSpPr>
          <p:cNvPr id="12" name="Value card 1"/>
          <p:cNvSpPr/>
          <p:nvPr/>
        </p:nvSpPr>
        <p:spPr>
          <a:xfrm>
            <a:off x="548640" y="4480560"/>
            <a:ext cx="2567178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13" name="Accessible button"/>
          <p:cNvSpPr/>
          <p:nvPr/>
        </p:nvSpPr>
        <p:spPr>
          <a:xfrm>
            <a:off x="777240" y="46634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Accessible icon" descr="Accessibl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028" y="4799228"/>
            <a:ext cx="231343" cy="231343"/>
          </a:xfrm>
          <a:prstGeom prst="rect">
            <a:avLst/>
          </a:prstGeom>
        </p:spPr>
      </p:pic>
      <p:sp>
        <p:nvSpPr>
          <p:cNvPr id="15" name="Value title 1"/>
          <p:cNvSpPr txBox="1"/>
          <p:nvPr/>
        </p:nvSpPr>
        <p:spPr>
          <a:xfrm>
            <a:off x="777240" y="5257800"/>
            <a:ext cx="2109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Accessible</a:t>
            </a:r>
            <a:endParaRPr lang="en-US" sz="1600" dirty="0"/>
          </a:p>
        </p:txBody>
      </p:sp>
      <p:sp>
        <p:nvSpPr>
          <p:cNvPr id="16" name="Value text 1"/>
          <p:cNvSpPr txBox="1"/>
          <p:nvPr/>
        </p:nvSpPr>
        <p:spPr>
          <a:xfrm>
            <a:off x="777240" y="5577840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Fair for elderly people, children and families</a:t>
            </a:r>
            <a:endParaRPr lang="en-US" sz="1400" dirty="0"/>
          </a:p>
        </p:txBody>
      </p:sp>
      <p:sp>
        <p:nvSpPr>
          <p:cNvPr id="17" name="Value card 2"/>
          <p:cNvSpPr/>
          <p:nvPr/>
        </p:nvSpPr>
        <p:spPr>
          <a:xfrm>
            <a:off x="3390138" y="4480560"/>
            <a:ext cx="2567178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18" name="Safety first button"/>
          <p:cNvSpPr/>
          <p:nvPr/>
        </p:nvSpPr>
        <p:spPr>
          <a:xfrm>
            <a:off x="3618738" y="46634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Safety first icon" descr="Safety firs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526" y="4799228"/>
            <a:ext cx="231343" cy="231343"/>
          </a:xfrm>
          <a:prstGeom prst="rect">
            <a:avLst/>
          </a:prstGeom>
        </p:spPr>
      </p:pic>
      <p:sp>
        <p:nvSpPr>
          <p:cNvPr id="20" name="Value title 2"/>
          <p:cNvSpPr txBox="1"/>
          <p:nvPr/>
        </p:nvSpPr>
        <p:spPr>
          <a:xfrm>
            <a:off x="3618738" y="5257800"/>
            <a:ext cx="2109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Safety first</a:t>
            </a:r>
            <a:endParaRPr lang="en-US" sz="1600" dirty="0"/>
          </a:p>
        </p:txBody>
      </p:sp>
      <p:sp>
        <p:nvSpPr>
          <p:cNvPr id="21" name="Value text 2"/>
          <p:cNvSpPr txBox="1"/>
          <p:nvPr/>
        </p:nvSpPr>
        <p:spPr>
          <a:xfrm>
            <a:off x="3618738" y="5577840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Never compromise normal lift operation</a:t>
            </a:r>
            <a:endParaRPr lang="en-US" sz="1400" dirty="0"/>
          </a:p>
        </p:txBody>
      </p:sp>
      <p:sp>
        <p:nvSpPr>
          <p:cNvPr id="22" name="Value card 3"/>
          <p:cNvSpPr/>
          <p:nvPr/>
        </p:nvSpPr>
        <p:spPr>
          <a:xfrm>
            <a:off x="6231636" y="4480560"/>
            <a:ext cx="2567178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23" name="Privacy-first button"/>
          <p:cNvSpPr/>
          <p:nvPr/>
        </p:nvSpPr>
        <p:spPr>
          <a:xfrm>
            <a:off x="6460236" y="46634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Privacy-first icon" descr="Privacy-firs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6024" y="4799228"/>
            <a:ext cx="231343" cy="231343"/>
          </a:xfrm>
          <a:prstGeom prst="rect">
            <a:avLst/>
          </a:prstGeom>
        </p:spPr>
      </p:pic>
      <p:sp>
        <p:nvSpPr>
          <p:cNvPr id="25" name="Value title 3"/>
          <p:cNvSpPr txBox="1"/>
          <p:nvPr/>
        </p:nvSpPr>
        <p:spPr>
          <a:xfrm>
            <a:off x="6460236" y="5257800"/>
            <a:ext cx="2109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Privacy-first</a:t>
            </a:r>
            <a:endParaRPr lang="en-US" sz="1600" dirty="0"/>
          </a:p>
        </p:txBody>
      </p:sp>
      <p:sp>
        <p:nvSpPr>
          <p:cNvPr id="26" name="Value text 3"/>
          <p:cNvSpPr txBox="1"/>
          <p:nvPr/>
        </p:nvSpPr>
        <p:spPr>
          <a:xfrm>
            <a:off x="6460236" y="5577840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Video stays on-device; only counts leave</a:t>
            </a:r>
            <a:endParaRPr lang="en-US" sz="1400" dirty="0"/>
          </a:p>
        </p:txBody>
      </p:sp>
      <p:sp>
        <p:nvSpPr>
          <p:cNvPr id="27" name="Value card 4"/>
          <p:cNvSpPr/>
          <p:nvPr/>
        </p:nvSpPr>
        <p:spPr>
          <a:xfrm>
            <a:off x="9073134" y="4480560"/>
            <a:ext cx="2567178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28" name="Affordable button"/>
          <p:cNvSpPr/>
          <p:nvPr/>
        </p:nvSpPr>
        <p:spPr>
          <a:xfrm>
            <a:off x="9301734" y="46634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Affordable icon" descr="Affordabl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7522" y="4799228"/>
            <a:ext cx="231343" cy="231343"/>
          </a:xfrm>
          <a:prstGeom prst="rect">
            <a:avLst/>
          </a:prstGeom>
        </p:spPr>
      </p:pic>
      <p:sp>
        <p:nvSpPr>
          <p:cNvPr id="30" name="Value title 4"/>
          <p:cNvSpPr txBox="1"/>
          <p:nvPr/>
        </p:nvSpPr>
        <p:spPr>
          <a:xfrm>
            <a:off x="9301734" y="5257800"/>
            <a:ext cx="2109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Affordable</a:t>
            </a:r>
            <a:endParaRPr lang="en-US" sz="1600" dirty="0"/>
          </a:p>
        </p:txBody>
      </p:sp>
      <p:sp>
        <p:nvSpPr>
          <p:cNvPr id="31" name="Value text 4"/>
          <p:cNvSpPr txBox="1"/>
          <p:nvPr/>
        </p:nvSpPr>
        <p:spPr>
          <a:xfrm>
            <a:off x="9301734" y="5577840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fraction of the cost of new lifts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out Us button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About Us icon" descr="About U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608990"/>
            <a:ext cx="336499" cy="336499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About Us</a:t>
            </a:r>
            <a:endParaRPr lang="en-US" sz="3400" dirty="0"/>
          </a:p>
        </p:txBody>
      </p:sp>
      <p:sp>
        <p:nvSpPr>
          <p:cNvPr id="6" name="Team card 1"/>
          <p:cNvSpPr/>
          <p:nvPr/>
        </p:nvSpPr>
        <p:spPr>
          <a:xfrm>
            <a:off x="548640" y="1463040"/>
            <a:ext cx="2567178" cy="384048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/>
        </p:spPr>
      </p:sp>
      <p:sp>
        <p:nvSpPr>
          <p:cNvPr id="7" name="Komolika chip"/>
          <p:cNvSpPr/>
          <p:nvPr/>
        </p:nvSpPr>
        <p:spPr>
          <a:xfrm>
            <a:off x="822960" y="1737360"/>
            <a:ext cx="868680" cy="8686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8" name="Komolika chip label"/>
          <p:cNvSpPr txBox="1"/>
          <p:nvPr/>
        </p:nvSpPr>
        <p:spPr>
          <a:xfrm>
            <a:off x="822960" y="1737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KO</a:t>
            </a:r>
            <a:endParaRPr lang="en-US" sz="2600" dirty="0"/>
          </a:p>
        </p:txBody>
      </p:sp>
      <p:sp>
        <p:nvSpPr>
          <p:cNvPr id="9" name="Member name 1"/>
          <p:cNvSpPr txBox="1"/>
          <p:nvPr/>
        </p:nvSpPr>
        <p:spPr>
          <a:xfrm>
            <a:off x="822960" y="278892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Komolika</a:t>
            </a:r>
            <a:endParaRPr lang="en-US" sz="1900" dirty="0"/>
          </a:p>
        </p:txBody>
      </p:sp>
      <p:sp>
        <p:nvSpPr>
          <p:cNvPr id="10" name="Designation 1"/>
          <p:cNvSpPr txBox="1"/>
          <p:nvPr/>
        </p:nvSpPr>
        <p:spPr>
          <a:xfrm>
            <a:off x="822960" y="320040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Technology &amp; Platform Lead</a:t>
            </a:r>
            <a:endParaRPr lang="en-US" sz="1400" dirty="0"/>
          </a:p>
        </p:txBody>
      </p:sp>
      <p:sp>
        <p:nvSpPr>
          <p:cNvPr id="11" name="Responsibilities 1"/>
          <p:cNvSpPr txBox="1"/>
          <p:nvPr/>
        </p:nvSpPr>
        <p:spPr>
          <a:xfrm>
            <a:off x="822960" y="3886200"/>
            <a:ext cx="21099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Edge-AI system integration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Committee dashboard &amp; UI</a:t>
            </a:r>
            <a:endParaRPr lang="en-US" sz="1400" dirty="0"/>
          </a:p>
        </p:txBody>
      </p:sp>
      <p:sp>
        <p:nvSpPr>
          <p:cNvPr id="12" name="Team card 2"/>
          <p:cNvSpPr/>
          <p:nvPr/>
        </p:nvSpPr>
        <p:spPr>
          <a:xfrm>
            <a:off x="3390138" y="1463040"/>
            <a:ext cx="2567178" cy="384048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/>
        </p:spPr>
      </p:sp>
      <p:sp>
        <p:nvSpPr>
          <p:cNvPr id="13" name="Zainab Farooqui chip"/>
          <p:cNvSpPr/>
          <p:nvPr/>
        </p:nvSpPr>
        <p:spPr>
          <a:xfrm>
            <a:off x="3664458" y="1737360"/>
            <a:ext cx="868680" cy="8686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Zainab Farooqui chip label"/>
          <p:cNvSpPr txBox="1"/>
          <p:nvPr/>
        </p:nvSpPr>
        <p:spPr>
          <a:xfrm>
            <a:off x="3664458" y="1737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ZF</a:t>
            </a:r>
            <a:endParaRPr lang="en-US" sz="2600" dirty="0"/>
          </a:p>
        </p:txBody>
      </p:sp>
      <p:sp>
        <p:nvSpPr>
          <p:cNvPr id="15" name="Member name 2"/>
          <p:cNvSpPr txBox="1"/>
          <p:nvPr/>
        </p:nvSpPr>
        <p:spPr>
          <a:xfrm>
            <a:off x="3664458" y="278892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Zainab Farooqui</a:t>
            </a:r>
            <a:endParaRPr lang="en-US" sz="1900" dirty="0"/>
          </a:p>
        </p:txBody>
      </p:sp>
      <p:sp>
        <p:nvSpPr>
          <p:cNvPr id="16" name="Designation 2"/>
          <p:cNvSpPr txBox="1"/>
          <p:nvPr/>
        </p:nvSpPr>
        <p:spPr>
          <a:xfrm>
            <a:off x="3664458" y="320040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AI &amp; Data Lead</a:t>
            </a:r>
            <a:endParaRPr lang="en-US" sz="1400" dirty="0"/>
          </a:p>
        </p:txBody>
      </p:sp>
      <p:sp>
        <p:nvSpPr>
          <p:cNvPr id="17" name="Responsibilities 2"/>
          <p:cNvSpPr txBox="1"/>
          <p:nvPr/>
        </p:nvSpPr>
        <p:spPr>
          <a:xfrm>
            <a:off x="3664458" y="3886200"/>
            <a:ext cx="21099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Crowd detection model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Demand prediction engine</a:t>
            </a:r>
            <a:endParaRPr lang="en-US" sz="1400" dirty="0"/>
          </a:p>
        </p:txBody>
      </p:sp>
      <p:sp>
        <p:nvSpPr>
          <p:cNvPr id="18" name="Team card 3"/>
          <p:cNvSpPr/>
          <p:nvPr/>
        </p:nvSpPr>
        <p:spPr>
          <a:xfrm>
            <a:off x="6231636" y="1463040"/>
            <a:ext cx="2567178" cy="384048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/>
        </p:spPr>
      </p:sp>
      <p:sp>
        <p:nvSpPr>
          <p:cNvPr id="19" name="Samrudhi Jadhav chip"/>
          <p:cNvSpPr/>
          <p:nvPr/>
        </p:nvSpPr>
        <p:spPr>
          <a:xfrm>
            <a:off x="6505956" y="1737360"/>
            <a:ext cx="868680" cy="8686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0" name="Samrudhi Jadhav chip label"/>
          <p:cNvSpPr txBox="1"/>
          <p:nvPr/>
        </p:nvSpPr>
        <p:spPr>
          <a:xfrm>
            <a:off x="6505956" y="1737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SJ</a:t>
            </a:r>
            <a:endParaRPr lang="en-US" sz="2600" dirty="0"/>
          </a:p>
        </p:txBody>
      </p:sp>
      <p:sp>
        <p:nvSpPr>
          <p:cNvPr id="21" name="Member name 3"/>
          <p:cNvSpPr txBox="1"/>
          <p:nvPr/>
        </p:nvSpPr>
        <p:spPr>
          <a:xfrm>
            <a:off x="6505956" y="278892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Samrudhi Jadhav</a:t>
            </a:r>
            <a:endParaRPr lang="en-US" sz="1900" dirty="0"/>
          </a:p>
        </p:txBody>
      </p:sp>
      <p:sp>
        <p:nvSpPr>
          <p:cNvPr id="22" name="Designation 3"/>
          <p:cNvSpPr txBox="1"/>
          <p:nvPr/>
        </p:nvSpPr>
        <p:spPr>
          <a:xfrm>
            <a:off x="6505956" y="320040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Operations &amp; Hardware Lead</a:t>
            </a:r>
            <a:endParaRPr lang="en-US" sz="1400" dirty="0"/>
          </a:p>
        </p:txBody>
      </p:sp>
      <p:sp>
        <p:nvSpPr>
          <p:cNvPr id="23" name="Responsibilities 3"/>
          <p:cNvSpPr txBox="1"/>
          <p:nvPr/>
        </p:nvSpPr>
        <p:spPr>
          <a:xfrm>
            <a:off x="6505956" y="3886200"/>
            <a:ext cx="21099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Installation &amp; vendors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Safety &amp; compliance</a:t>
            </a:r>
            <a:endParaRPr lang="en-US" sz="1400" dirty="0"/>
          </a:p>
        </p:txBody>
      </p:sp>
      <p:sp>
        <p:nvSpPr>
          <p:cNvPr id="24" name="Team card 4"/>
          <p:cNvSpPr/>
          <p:nvPr/>
        </p:nvSpPr>
        <p:spPr>
          <a:xfrm>
            <a:off x="9073134" y="1463040"/>
            <a:ext cx="2567178" cy="384048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/>
        </p:spPr>
      </p:sp>
      <p:sp>
        <p:nvSpPr>
          <p:cNvPr id="25" name="Sanika Sonavane chip"/>
          <p:cNvSpPr/>
          <p:nvPr/>
        </p:nvSpPr>
        <p:spPr>
          <a:xfrm>
            <a:off x="9347454" y="1737360"/>
            <a:ext cx="868680" cy="8686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6" name="Sanika Sonavane chip label"/>
          <p:cNvSpPr txBox="1"/>
          <p:nvPr/>
        </p:nvSpPr>
        <p:spPr>
          <a:xfrm>
            <a:off x="9347454" y="1737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SS</a:t>
            </a:r>
            <a:endParaRPr lang="en-US" sz="2600" dirty="0"/>
          </a:p>
        </p:txBody>
      </p:sp>
      <p:sp>
        <p:nvSpPr>
          <p:cNvPr id="27" name="Member name 4"/>
          <p:cNvSpPr txBox="1"/>
          <p:nvPr/>
        </p:nvSpPr>
        <p:spPr>
          <a:xfrm>
            <a:off x="9347454" y="278892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Sanika Sonavane</a:t>
            </a:r>
            <a:endParaRPr lang="en-US" sz="1900" dirty="0"/>
          </a:p>
        </p:txBody>
      </p:sp>
      <p:sp>
        <p:nvSpPr>
          <p:cNvPr id="28" name="Designation 4"/>
          <p:cNvSpPr txBox="1"/>
          <p:nvPr/>
        </p:nvSpPr>
        <p:spPr>
          <a:xfrm>
            <a:off x="9347454" y="320040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Business &amp; Finance Lead</a:t>
            </a:r>
            <a:endParaRPr lang="en-US" sz="1400" dirty="0"/>
          </a:p>
        </p:txBody>
      </p:sp>
      <p:sp>
        <p:nvSpPr>
          <p:cNvPr id="29" name="Responsibilities 4"/>
          <p:cNvSpPr txBox="1"/>
          <p:nvPr/>
        </p:nvSpPr>
        <p:spPr>
          <a:xfrm>
            <a:off x="9347454" y="3886200"/>
            <a:ext cx="21099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RWA outreach &amp; pricing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Financial model &amp; funding</a:t>
            </a:r>
            <a:endParaRPr lang="en-US" sz="1400" dirty="0"/>
          </a:p>
        </p:txBody>
      </p:sp>
      <p:sp>
        <p:nvSpPr>
          <p:cNvPr id="30" name="Team strip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14118"/>
            </a:avLst>
          </a:prstGeom>
          <a:solidFill>
            <a:schemeClr val="tx1"/>
          </a:solidFill>
          <a:ln/>
        </p:spPr>
      </p:sp>
      <p:sp>
        <p:nvSpPr>
          <p:cNvPr id="31" name="Group strip text"/>
          <p:cNvSpPr txBox="1"/>
          <p:nvPr/>
        </p:nvSpPr>
        <p:spPr>
          <a:xfrm>
            <a:off x="868680" y="54864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Group No. 9: Ultron  |  UCIDs 11, 15, 25, 62</a:t>
            </a:r>
            <a:endParaRPr lang="en-US" sz="1600" dirty="0"/>
          </a:p>
        </p:txBody>
      </p:sp>
      <p:sp>
        <p:nvSpPr>
          <p:cNvPr id="32" name="Advisor text"/>
          <p:cNvSpPr txBox="1"/>
          <p:nvPr/>
        </p:nvSpPr>
        <p:spPr>
          <a:xfrm>
            <a:off x="5486400" y="54864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Advisors to onboard: elevator-systems and safety expert, hardware installation partner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eration Management button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Operation Management icon" descr="Operation Managemen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608990"/>
            <a:ext cx="336499" cy="336499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Operation Management</a:t>
            </a:r>
            <a:endParaRPr lang="en-US" sz="3400" dirty="0"/>
          </a:p>
        </p:txBody>
      </p:sp>
      <p:sp>
        <p:nvSpPr>
          <p:cNvPr id="6" name="Lane 1 label"/>
          <p:cNvSpPr txBox="1"/>
          <p:nvPr/>
        </p:nvSpPr>
        <p:spPr>
          <a:xfrm>
            <a:off x="54864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DEPLOYMENT  |  once per building</a:t>
            </a:r>
            <a:endParaRPr lang="en-US" sz="1200" dirty="0"/>
          </a:p>
        </p:txBody>
      </p:sp>
      <p:sp>
        <p:nvSpPr>
          <p:cNvPr id="7" name="Step card 1"/>
          <p:cNvSpPr/>
          <p:nvPr/>
        </p:nvSpPr>
        <p:spPr>
          <a:xfrm>
            <a:off x="548640" y="1645920"/>
            <a:ext cx="32004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8" name="Step 1 chip"/>
          <p:cNvSpPr/>
          <p:nvPr/>
        </p:nvSpPr>
        <p:spPr>
          <a:xfrm>
            <a:off x="731520" y="181051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tep 1 chip label"/>
          <p:cNvSpPr txBox="1"/>
          <p:nvPr/>
        </p:nvSpPr>
        <p:spPr>
          <a:xfrm>
            <a:off x="731520" y="1810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Step title 1"/>
          <p:cNvSpPr txBox="1"/>
          <p:nvPr/>
        </p:nvSpPr>
        <p:spPr>
          <a:xfrm>
            <a:off x="1280160" y="18105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Society onboarding</a:t>
            </a:r>
            <a:endParaRPr lang="en-US" sz="1700" dirty="0"/>
          </a:p>
        </p:txBody>
      </p:sp>
      <p:sp>
        <p:nvSpPr>
          <p:cNvPr id="11" name="Step text 1"/>
          <p:cNvSpPr txBox="1"/>
          <p:nvPr/>
        </p:nvSpPr>
        <p:spPr>
          <a:xfrm>
            <a:off x="731520" y="2377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Demo to the RWA committee; consent and approval</a:t>
            </a:r>
            <a:endParaRPr lang="en-US" sz="1400" dirty="0"/>
          </a:p>
        </p:txBody>
      </p:sp>
      <p:sp>
        <p:nvSpPr>
          <p:cNvPr id="12" name="Arrow 1"/>
          <p:cNvSpPr/>
          <p:nvPr/>
        </p:nvSpPr>
        <p:spPr>
          <a:xfrm>
            <a:off x="3840480" y="2331720"/>
            <a:ext cx="562356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Step card 2"/>
          <p:cNvSpPr/>
          <p:nvPr/>
        </p:nvSpPr>
        <p:spPr>
          <a:xfrm>
            <a:off x="4494276" y="1645920"/>
            <a:ext cx="32004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4" name="Step 2 chip"/>
          <p:cNvSpPr/>
          <p:nvPr/>
        </p:nvSpPr>
        <p:spPr>
          <a:xfrm>
            <a:off x="4677156" y="181051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Step 2 chip label"/>
          <p:cNvSpPr txBox="1"/>
          <p:nvPr/>
        </p:nvSpPr>
        <p:spPr>
          <a:xfrm>
            <a:off x="4677156" y="1810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Step title 2"/>
          <p:cNvSpPr txBox="1"/>
          <p:nvPr/>
        </p:nvSpPr>
        <p:spPr>
          <a:xfrm>
            <a:off x="5225796" y="18105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Site survey</a:t>
            </a:r>
            <a:endParaRPr lang="en-US" sz="1700" dirty="0"/>
          </a:p>
        </p:txBody>
      </p:sp>
      <p:sp>
        <p:nvSpPr>
          <p:cNvPr id="17" name="Step text 2"/>
          <p:cNvSpPr txBox="1"/>
          <p:nvPr/>
        </p:nvSpPr>
        <p:spPr>
          <a:xfrm>
            <a:off x="4677156" y="2377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Map lobby cameras, lifts, floors and traffic</a:t>
            </a:r>
            <a:endParaRPr lang="en-US" sz="1400" dirty="0"/>
          </a:p>
        </p:txBody>
      </p:sp>
      <p:sp>
        <p:nvSpPr>
          <p:cNvPr id="18" name="Arrow 2"/>
          <p:cNvSpPr/>
          <p:nvPr/>
        </p:nvSpPr>
        <p:spPr>
          <a:xfrm>
            <a:off x="7786116" y="2331720"/>
            <a:ext cx="562356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9" name="Step card 3"/>
          <p:cNvSpPr/>
          <p:nvPr/>
        </p:nvSpPr>
        <p:spPr>
          <a:xfrm>
            <a:off x="8439912" y="1645920"/>
            <a:ext cx="32004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0" name="Step 3 chip"/>
          <p:cNvSpPr/>
          <p:nvPr/>
        </p:nvSpPr>
        <p:spPr>
          <a:xfrm>
            <a:off x="8622792" y="181051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Step 3 chip label"/>
          <p:cNvSpPr txBox="1"/>
          <p:nvPr/>
        </p:nvSpPr>
        <p:spPr>
          <a:xfrm>
            <a:off x="8622792" y="1810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Step title 3"/>
          <p:cNvSpPr txBox="1"/>
          <p:nvPr/>
        </p:nvSpPr>
        <p:spPr>
          <a:xfrm>
            <a:off x="9171432" y="18105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Retrofit install</a:t>
            </a:r>
            <a:endParaRPr lang="en-US" sz="1700" dirty="0"/>
          </a:p>
        </p:txBody>
      </p:sp>
      <p:sp>
        <p:nvSpPr>
          <p:cNvPr id="23" name="Step text 3"/>
          <p:cNvSpPr txBox="1"/>
          <p:nvPr/>
        </p:nvSpPr>
        <p:spPr>
          <a:xfrm>
            <a:off x="8622792" y="2377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Fit the edge-AI controller; no lift downtime</a:t>
            </a:r>
            <a:endParaRPr lang="en-US" sz="1400" dirty="0"/>
          </a:p>
        </p:txBody>
      </p:sp>
      <p:sp>
        <p:nvSpPr>
          <p:cNvPr id="24" name="Go live arrow"/>
          <p:cNvSpPr/>
          <p:nvPr/>
        </p:nvSpPr>
        <p:spPr>
          <a:xfrm>
            <a:off x="5897880" y="3108960"/>
            <a:ext cx="411480" cy="365760"/>
          </a:xfrm>
          <a:prstGeom prst="downArrow">
            <a:avLst/>
          </a:prstGeom>
          <a:solidFill>
            <a:schemeClr val="accent1"/>
          </a:solidFill>
          <a:ln/>
        </p:spPr>
      </p:sp>
      <p:sp>
        <p:nvSpPr>
          <p:cNvPr id="25" name="Lane 2 label"/>
          <p:cNvSpPr txBox="1"/>
          <p:nvPr/>
        </p:nvSpPr>
        <p:spPr>
          <a:xfrm>
            <a:off x="548640" y="3200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DAILY OPERATION  |  continuous, on the edge</a:t>
            </a:r>
            <a:endParaRPr lang="en-US" sz="1200" dirty="0"/>
          </a:p>
        </p:txBody>
      </p:sp>
      <p:sp>
        <p:nvSpPr>
          <p:cNvPr id="26" name="Run card 1"/>
          <p:cNvSpPr/>
          <p:nvPr/>
        </p:nvSpPr>
        <p:spPr>
          <a:xfrm>
            <a:off x="548640" y="3566160"/>
            <a:ext cx="2468880" cy="1417320"/>
          </a:xfrm>
          <a:prstGeom prst="roundRect">
            <a:avLst>
              <a:gd name="adj" fmla="val 7742"/>
            </a:avLst>
          </a:prstGeom>
          <a:solidFill>
            <a:schemeClr val="tx1"/>
          </a:solidFill>
          <a:ln/>
        </p:spPr>
      </p:sp>
      <p:sp>
        <p:nvSpPr>
          <p:cNvPr id="27" name="Run 4 chip"/>
          <p:cNvSpPr/>
          <p:nvPr/>
        </p:nvSpPr>
        <p:spPr>
          <a:xfrm>
            <a:off x="731520" y="373075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Run 4 chip label"/>
          <p:cNvSpPr txBox="1"/>
          <p:nvPr/>
        </p:nvSpPr>
        <p:spPr>
          <a:xfrm>
            <a:off x="731520" y="3730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9" name="Run title 1"/>
          <p:cNvSpPr txBox="1"/>
          <p:nvPr/>
        </p:nvSpPr>
        <p:spPr>
          <a:xfrm>
            <a:off x="1280160" y="373075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Sense</a:t>
            </a:r>
            <a:endParaRPr lang="en-US" sz="1700" dirty="0"/>
          </a:p>
        </p:txBody>
      </p:sp>
      <p:sp>
        <p:nvSpPr>
          <p:cNvPr id="30" name="Run text 1"/>
          <p:cNvSpPr txBox="1"/>
          <p:nvPr/>
        </p:nvSpPr>
        <p:spPr>
          <a:xfrm>
            <a:off x="731520" y="42976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Count crowds per lobby and floor from existing CCTV</a:t>
            </a:r>
            <a:endParaRPr lang="en-US" sz="1400" dirty="0"/>
          </a:p>
        </p:txBody>
      </p:sp>
      <p:sp>
        <p:nvSpPr>
          <p:cNvPr id="31" name="Run arrow 1"/>
          <p:cNvSpPr/>
          <p:nvPr/>
        </p:nvSpPr>
        <p:spPr>
          <a:xfrm>
            <a:off x="3090672" y="4279392"/>
            <a:ext cx="25908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2" name="Run card 2"/>
          <p:cNvSpPr/>
          <p:nvPr/>
        </p:nvSpPr>
        <p:spPr>
          <a:xfrm>
            <a:off x="3422904" y="3566160"/>
            <a:ext cx="2468880" cy="1417320"/>
          </a:xfrm>
          <a:prstGeom prst="roundRect">
            <a:avLst>
              <a:gd name="adj" fmla="val 7742"/>
            </a:avLst>
          </a:prstGeom>
          <a:solidFill>
            <a:schemeClr val="tx1"/>
          </a:solidFill>
          <a:ln/>
        </p:spPr>
      </p:sp>
      <p:sp>
        <p:nvSpPr>
          <p:cNvPr id="33" name="Run 5 chip"/>
          <p:cNvSpPr/>
          <p:nvPr/>
        </p:nvSpPr>
        <p:spPr>
          <a:xfrm>
            <a:off x="3605784" y="373075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Run 5 chip label"/>
          <p:cNvSpPr txBox="1"/>
          <p:nvPr/>
        </p:nvSpPr>
        <p:spPr>
          <a:xfrm>
            <a:off x="3605784" y="3730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35" name="Run title 2"/>
          <p:cNvSpPr txBox="1"/>
          <p:nvPr/>
        </p:nvSpPr>
        <p:spPr>
          <a:xfrm>
            <a:off x="4154424" y="373075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Predict</a:t>
            </a:r>
            <a:endParaRPr lang="en-US" sz="1700" dirty="0"/>
          </a:p>
        </p:txBody>
      </p:sp>
      <p:sp>
        <p:nvSpPr>
          <p:cNvPr id="36" name="Run text 2"/>
          <p:cNvSpPr txBox="1"/>
          <p:nvPr/>
        </p:nvSpPr>
        <p:spPr>
          <a:xfrm>
            <a:off x="3605784" y="42976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Forecast floor-wise demand for the next minutes</a:t>
            </a:r>
            <a:endParaRPr lang="en-US" sz="1400" dirty="0"/>
          </a:p>
        </p:txBody>
      </p:sp>
      <p:sp>
        <p:nvSpPr>
          <p:cNvPr id="37" name="Run arrow 2"/>
          <p:cNvSpPr/>
          <p:nvPr/>
        </p:nvSpPr>
        <p:spPr>
          <a:xfrm>
            <a:off x="5964936" y="4279392"/>
            <a:ext cx="25908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8" name="Run card 3"/>
          <p:cNvSpPr/>
          <p:nvPr/>
        </p:nvSpPr>
        <p:spPr>
          <a:xfrm>
            <a:off x="6297168" y="3566160"/>
            <a:ext cx="2468880" cy="1417320"/>
          </a:xfrm>
          <a:prstGeom prst="roundRect">
            <a:avLst>
              <a:gd name="adj" fmla="val 7742"/>
            </a:avLst>
          </a:prstGeom>
          <a:solidFill>
            <a:schemeClr val="tx1"/>
          </a:solidFill>
          <a:ln/>
        </p:spPr>
      </p:sp>
      <p:sp>
        <p:nvSpPr>
          <p:cNvPr id="39" name="Run 6 chip"/>
          <p:cNvSpPr/>
          <p:nvPr/>
        </p:nvSpPr>
        <p:spPr>
          <a:xfrm>
            <a:off x="6480048" y="373075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0" name="Run 6 chip label"/>
          <p:cNvSpPr txBox="1"/>
          <p:nvPr/>
        </p:nvSpPr>
        <p:spPr>
          <a:xfrm>
            <a:off x="6480048" y="3730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en-US" sz="1600" dirty="0"/>
          </a:p>
        </p:txBody>
      </p:sp>
      <p:sp>
        <p:nvSpPr>
          <p:cNvPr id="41" name="Run title 3"/>
          <p:cNvSpPr txBox="1"/>
          <p:nvPr/>
        </p:nvSpPr>
        <p:spPr>
          <a:xfrm>
            <a:off x="7028688" y="373075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Dispatch</a:t>
            </a:r>
            <a:endParaRPr lang="en-US" sz="1700" dirty="0"/>
          </a:p>
        </p:txBody>
      </p:sp>
      <p:sp>
        <p:nvSpPr>
          <p:cNvPr id="42" name="Run text 3"/>
          <p:cNvSpPr txBox="1"/>
          <p:nvPr/>
        </p:nvSpPr>
        <p:spPr>
          <a:xfrm>
            <a:off x="6480048" y="42976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Send optimised dispatch to the lifts</a:t>
            </a:r>
            <a:endParaRPr lang="en-US" sz="1400" dirty="0"/>
          </a:p>
        </p:txBody>
      </p:sp>
      <p:sp>
        <p:nvSpPr>
          <p:cNvPr id="43" name="Run arrow 3"/>
          <p:cNvSpPr/>
          <p:nvPr/>
        </p:nvSpPr>
        <p:spPr>
          <a:xfrm>
            <a:off x="8839200" y="4279392"/>
            <a:ext cx="25908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4" name="Run card 4"/>
          <p:cNvSpPr/>
          <p:nvPr/>
        </p:nvSpPr>
        <p:spPr>
          <a:xfrm>
            <a:off x="9171432" y="3566160"/>
            <a:ext cx="2468880" cy="1417320"/>
          </a:xfrm>
          <a:prstGeom prst="roundRect">
            <a:avLst>
              <a:gd name="adj" fmla="val 7742"/>
            </a:avLst>
          </a:prstGeom>
          <a:solidFill>
            <a:schemeClr val="tx1"/>
          </a:solidFill>
          <a:ln/>
        </p:spPr>
      </p:sp>
      <p:sp>
        <p:nvSpPr>
          <p:cNvPr id="45" name="Run 7 chip"/>
          <p:cNvSpPr/>
          <p:nvPr/>
        </p:nvSpPr>
        <p:spPr>
          <a:xfrm>
            <a:off x="9354312" y="373075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6" name="Run 7 chip label"/>
          <p:cNvSpPr txBox="1"/>
          <p:nvPr/>
        </p:nvSpPr>
        <p:spPr>
          <a:xfrm>
            <a:off x="9354312" y="3730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7</a:t>
            </a:r>
            <a:endParaRPr lang="en-US" sz="1600" dirty="0"/>
          </a:p>
        </p:txBody>
      </p:sp>
      <p:sp>
        <p:nvSpPr>
          <p:cNvPr id="47" name="Run title 4"/>
          <p:cNvSpPr txBox="1"/>
          <p:nvPr/>
        </p:nvSpPr>
        <p:spPr>
          <a:xfrm>
            <a:off x="9902952" y="373075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Learn &amp; support</a:t>
            </a:r>
            <a:endParaRPr lang="en-US" sz="1700" dirty="0"/>
          </a:p>
        </p:txBody>
      </p:sp>
      <p:sp>
        <p:nvSpPr>
          <p:cNvPr id="48" name="Run text 4"/>
          <p:cNvSpPr txBox="1"/>
          <p:nvPr/>
        </p:nvSpPr>
        <p:spPr>
          <a:xfrm>
            <a:off x="9354312" y="42976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Building data tunes the model; remote support</a:t>
            </a:r>
            <a:endParaRPr lang="en-US" sz="1400" dirty="0"/>
          </a:p>
        </p:txBody>
      </p:sp>
      <p:sp>
        <p:nvSpPr>
          <p:cNvPr id="49" name="Loop down"/>
          <p:cNvSpPr/>
          <p:nvPr/>
        </p:nvSpPr>
        <p:spPr>
          <a:xfrm>
            <a:off x="10405872" y="4983480"/>
            <a:ext cx="0" cy="32004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50" name="Loop across"/>
          <p:cNvSpPr/>
          <p:nvPr/>
        </p:nvSpPr>
        <p:spPr>
          <a:xfrm>
            <a:off x="1783080" y="5303520"/>
            <a:ext cx="8622792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51" name="Loop up"/>
          <p:cNvSpPr/>
          <p:nvPr/>
        </p:nvSpPr>
        <p:spPr>
          <a:xfrm flipV="1">
            <a:off x="1783080" y="4983480"/>
            <a:ext cx="0" cy="32004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52" name="Loop label"/>
          <p:cNvSpPr txBox="1"/>
          <p:nvPr/>
        </p:nvSpPr>
        <p:spPr>
          <a:xfrm>
            <a:off x="2057400" y="5358384"/>
            <a:ext cx="8074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Feedback loop: every ride improves the next prediction</a:t>
            </a:r>
            <a:endParaRPr lang="en-US" sz="1300" dirty="0"/>
          </a:p>
        </p:txBody>
      </p:sp>
      <p:sp>
        <p:nvSpPr>
          <p:cNvPr id="53" name="Principle strip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/>
        </p:spPr>
      </p:sp>
      <p:sp>
        <p:nvSpPr>
          <p:cNvPr id="54" name="Principle text"/>
          <p:cNvSpPr txBox="1"/>
          <p:nvPr/>
        </p:nvSpPr>
        <p:spPr>
          <a:xfrm>
            <a:off x="822960" y="576072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Design principle: no lift downtime, no OEM integration, video processed on the edge device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duct: How LiftIQ Works button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Product: How LiftIQ Works icon" descr="Product: How LiftIQ Work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608990"/>
            <a:ext cx="336499" cy="336499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Product: How LiftIQ Works</a:t>
            </a:r>
            <a:endParaRPr lang="en-US" sz="3400" dirty="0"/>
          </a:p>
        </p:txBody>
      </p:sp>
      <p:sp>
        <p:nvSpPr>
          <p:cNvPr id="6" name="Diagram box 1"/>
          <p:cNvSpPr/>
          <p:nvPr/>
        </p:nvSpPr>
        <p:spPr>
          <a:xfrm>
            <a:off x="548640" y="1463040"/>
            <a:ext cx="292608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7" name="Existing lobby CCTV button"/>
          <p:cNvSpPr/>
          <p:nvPr/>
        </p:nvSpPr>
        <p:spPr>
          <a:xfrm>
            <a:off x="1691640" y="162763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Existing lobby CCTV icon" descr="Existing lobby CCTV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462" y="1800454"/>
            <a:ext cx="294437" cy="294437"/>
          </a:xfrm>
          <a:prstGeom prst="rect">
            <a:avLst/>
          </a:prstGeom>
        </p:spPr>
      </p:pic>
      <p:sp>
        <p:nvSpPr>
          <p:cNvPr id="9" name="Diagram title 1"/>
          <p:cNvSpPr txBox="1"/>
          <p:nvPr/>
        </p:nvSpPr>
        <p:spPr>
          <a:xfrm>
            <a:off x="685800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Existing lobby CCTV</a:t>
            </a:r>
            <a:endParaRPr lang="en-US" sz="1700" dirty="0"/>
          </a:p>
        </p:txBody>
      </p:sp>
      <p:sp>
        <p:nvSpPr>
          <p:cNvPr id="10" name="Diagram text 1"/>
          <p:cNvSpPr txBox="1"/>
          <p:nvPr/>
        </p:nvSpPr>
        <p:spPr>
          <a:xfrm>
            <a:off x="685800" y="2743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Live crowd view per floor</a:t>
            </a:r>
            <a:endParaRPr lang="en-US" sz="1400" dirty="0"/>
          </a:p>
        </p:txBody>
      </p:sp>
      <p:sp>
        <p:nvSpPr>
          <p:cNvPr id="11" name="Diagram arrow 1"/>
          <p:cNvSpPr/>
          <p:nvPr/>
        </p:nvSpPr>
        <p:spPr>
          <a:xfrm>
            <a:off x="3566160" y="2331720"/>
            <a:ext cx="608076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Arrow label 1"/>
          <p:cNvSpPr txBox="1"/>
          <p:nvPr/>
        </p:nvSpPr>
        <p:spPr>
          <a:xfrm>
            <a:off x="3474720" y="1965960"/>
            <a:ext cx="790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video</a:t>
            </a:r>
            <a:endParaRPr lang="en-US" sz="1200" dirty="0"/>
          </a:p>
        </p:txBody>
      </p:sp>
      <p:sp>
        <p:nvSpPr>
          <p:cNvPr id="13" name="Diagram box 2"/>
          <p:cNvSpPr/>
          <p:nvPr/>
        </p:nvSpPr>
        <p:spPr>
          <a:xfrm>
            <a:off x="4265676" y="1463040"/>
            <a:ext cx="3657600" cy="1783080"/>
          </a:xfrm>
          <a:prstGeom prst="roundRect">
            <a:avLst>
              <a:gd name="adj" fmla="val 6154"/>
            </a:avLst>
          </a:prstGeom>
          <a:solidFill>
            <a:schemeClr val="tx1"/>
          </a:solidFill>
          <a:ln/>
        </p:spPr>
      </p:sp>
      <p:sp>
        <p:nvSpPr>
          <p:cNvPr id="14" name="LiftIQ edge-AI controller button"/>
          <p:cNvSpPr/>
          <p:nvPr/>
        </p:nvSpPr>
        <p:spPr>
          <a:xfrm>
            <a:off x="5774436" y="162763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LiftIQ edge-AI controller icon" descr="LiftIQ edge-AI controller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258" y="1800454"/>
            <a:ext cx="294437" cy="294437"/>
          </a:xfrm>
          <a:prstGeom prst="rect">
            <a:avLst/>
          </a:prstGeom>
        </p:spPr>
      </p:pic>
      <p:sp>
        <p:nvSpPr>
          <p:cNvPr id="16" name="Diagram title 2"/>
          <p:cNvSpPr txBox="1"/>
          <p:nvPr/>
        </p:nvSpPr>
        <p:spPr>
          <a:xfrm>
            <a:off x="4402836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LiftIQ edge-AI controller</a:t>
            </a:r>
            <a:endParaRPr lang="en-US" sz="1700" dirty="0"/>
          </a:p>
        </p:txBody>
      </p:sp>
      <p:sp>
        <p:nvSpPr>
          <p:cNvPr id="17" name="Diagram text 2"/>
          <p:cNvSpPr txBox="1"/>
          <p:nvPr/>
        </p:nvSpPr>
        <p:spPr>
          <a:xfrm>
            <a:off x="4402836" y="2743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Detects, predicts, optimises</a:t>
            </a:r>
            <a:endParaRPr lang="en-US" sz="1400" dirty="0"/>
          </a:p>
        </p:txBody>
      </p:sp>
      <p:sp>
        <p:nvSpPr>
          <p:cNvPr id="18" name="Diagram arrow 2"/>
          <p:cNvSpPr/>
          <p:nvPr/>
        </p:nvSpPr>
        <p:spPr>
          <a:xfrm>
            <a:off x="8014716" y="2331720"/>
            <a:ext cx="608076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9" name="Arrow label 2"/>
          <p:cNvSpPr txBox="1"/>
          <p:nvPr/>
        </p:nvSpPr>
        <p:spPr>
          <a:xfrm>
            <a:off x="7923276" y="1965960"/>
            <a:ext cx="790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dispatch</a:t>
            </a:r>
            <a:endParaRPr lang="en-US" sz="1200" dirty="0"/>
          </a:p>
        </p:txBody>
      </p:sp>
      <p:sp>
        <p:nvSpPr>
          <p:cNvPr id="20" name="Diagram box 3"/>
          <p:cNvSpPr/>
          <p:nvPr/>
        </p:nvSpPr>
        <p:spPr>
          <a:xfrm>
            <a:off x="8714232" y="1463040"/>
            <a:ext cx="292608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1" name="Existing lifts button"/>
          <p:cNvSpPr/>
          <p:nvPr/>
        </p:nvSpPr>
        <p:spPr>
          <a:xfrm>
            <a:off x="9857232" y="162763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Existing lifts icon" descr="Existing lift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0054" y="1800454"/>
            <a:ext cx="294437" cy="294437"/>
          </a:xfrm>
          <a:prstGeom prst="rect">
            <a:avLst/>
          </a:prstGeom>
        </p:spPr>
      </p:pic>
      <p:sp>
        <p:nvSpPr>
          <p:cNvPr id="23" name="Diagram title 3"/>
          <p:cNvSpPr txBox="1"/>
          <p:nvPr/>
        </p:nvSpPr>
        <p:spPr>
          <a:xfrm>
            <a:off x="8851392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Existing lifts</a:t>
            </a:r>
            <a:endParaRPr lang="en-US" sz="1700" dirty="0"/>
          </a:p>
        </p:txBody>
      </p:sp>
      <p:sp>
        <p:nvSpPr>
          <p:cNvPr id="24" name="Diagram text 3"/>
          <p:cNvSpPr txBox="1"/>
          <p:nvPr/>
        </p:nvSpPr>
        <p:spPr>
          <a:xfrm>
            <a:off x="8851392" y="2743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Keep their own controllers</a:t>
            </a:r>
            <a:endParaRPr lang="en-US" sz="1400" dirty="0"/>
          </a:p>
        </p:txBody>
      </p:sp>
      <p:sp>
        <p:nvSpPr>
          <p:cNvPr id="25" name="Component card 1"/>
          <p:cNvSpPr/>
          <p:nvPr/>
        </p:nvSpPr>
        <p:spPr>
          <a:xfrm>
            <a:off x="548640" y="3520440"/>
            <a:ext cx="2567178" cy="269748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/>
        </p:spPr>
      </p:sp>
      <p:sp>
        <p:nvSpPr>
          <p:cNvPr id="26" name="Edge-AI controller button"/>
          <p:cNvSpPr/>
          <p:nvPr/>
        </p:nvSpPr>
        <p:spPr>
          <a:xfrm>
            <a:off x="777240" y="372160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Edge-AI controller icon" descr="Edge-AI controller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373" y="3869741"/>
            <a:ext cx="252374" cy="252374"/>
          </a:xfrm>
          <a:prstGeom prst="rect">
            <a:avLst/>
          </a:prstGeom>
        </p:spPr>
      </p:pic>
      <p:sp>
        <p:nvSpPr>
          <p:cNvPr id="28" name="Component title 1"/>
          <p:cNvSpPr txBox="1"/>
          <p:nvPr/>
        </p:nvSpPr>
        <p:spPr>
          <a:xfrm>
            <a:off x="777240" y="443484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Edge-AI controller</a:t>
            </a:r>
            <a:endParaRPr lang="en-US" sz="1600" dirty="0"/>
          </a:p>
        </p:txBody>
      </p:sp>
      <p:sp>
        <p:nvSpPr>
          <p:cNvPr id="29" name="Component text 1"/>
          <p:cNvSpPr txBox="1"/>
          <p:nvPr/>
        </p:nvSpPr>
        <p:spPr>
          <a:xfrm>
            <a:off x="777240" y="5029200"/>
            <a:ext cx="21099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Compact unit mounted outside the lift; runs all models locally</a:t>
            </a:r>
            <a:endParaRPr lang="en-US" sz="1400" dirty="0"/>
          </a:p>
        </p:txBody>
      </p:sp>
      <p:sp>
        <p:nvSpPr>
          <p:cNvPr id="30" name="Component card 2"/>
          <p:cNvSpPr/>
          <p:nvPr/>
        </p:nvSpPr>
        <p:spPr>
          <a:xfrm>
            <a:off x="3390138" y="3520440"/>
            <a:ext cx="2567178" cy="269748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/>
        </p:spPr>
      </p:sp>
      <p:sp>
        <p:nvSpPr>
          <p:cNvPr id="31" name="CCTV integration button"/>
          <p:cNvSpPr/>
          <p:nvPr/>
        </p:nvSpPr>
        <p:spPr>
          <a:xfrm>
            <a:off x="3618738" y="372160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2" name="CCTV integration icon" descr="CCTV integration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6871" y="3869741"/>
            <a:ext cx="252374" cy="252374"/>
          </a:xfrm>
          <a:prstGeom prst="rect">
            <a:avLst/>
          </a:prstGeom>
        </p:spPr>
      </p:pic>
      <p:sp>
        <p:nvSpPr>
          <p:cNvPr id="33" name="Component title 2"/>
          <p:cNvSpPr txBox="1"/>
          <p:nvPr/>
        </p:nvSpPr>
        <p:spPr>
          <a:xfrm>
            <a:off x="3618738" y="443484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CCTV integration</a:t>
            </a:r>
            <a:endParaRPr lang="en-US" sz="1600" dirty="0"/>
          </a:p>
        </p:txBody>
      </p:sp>
      <p:sp>
        <p:nvSpPr>
          <p:cNvPr id="34" name="Component text 2"/>
          <p:cNvSpPr txBox="1"/>
          <p:nvPr/>
        </p:nvSpPr>
        <p:spPr>
          <a:xfrm>
            <a:off x="3618738" y="5029200"/>
            <a:ext cx="21099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Reuses existing lobby cameras; adds cameras only where absent</a:t>
            </a:r>
            <a:endParaRPr lang="en-US" sz="1400" dirty="0"/>
          </a:p>
        </p:txBody>
      </p:sp>
      <p:sp>
        <p:nvSpPr>
          <p:cNvPr id="35" name="Component card 3"/>
          <p:cNvSpPr/>
          <p:nvPr/>
        </p:nvSpPr>
        <p:spPr>
          <a:xfrm>
            <a:off x="6231636" y="3520440"/>
            <a:ext cx="2567178" cy="269748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/>
        </p:spPr>
      </p:sp>
      <p:sp>
        <p:nvSpPr>
          <p:cNvPr id="36" name="Prediction &amp; dispatch engine button"/>
          <p:cNvSpPr/>
          <p:nvPr/>
        </p:nvSpPr>
        <p:spPr>
          <a:xfrm>
            <a:off x="6460236" y="372160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7" name="Prediction &amp; dispatch engine icon" descr="Prediction &amp; dispatch engine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8369" y="3869741"/>
            <a:ext cx="252374" cy="252374"/>
          </a:xfrm>
          <a:prstGeom prst="rect">
            <a:avLst/>
          </a:prstGeom>
        </p:spPr>
      </p:pic>
      <p:sp>
        <p:nvSpPr>
          <p:cNvPr id="38" name="Component title 3"/>
          <p:cNvSpPr txBox="1"/>
          <p:nvPr/>
        </p:nvSpPr>
        <p:spPr>
          <a:xfrm>
            <a:off x="6460236" y="443484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Prediction &amp; dispatch engine</a:t>
            </a:r>
            <a:endParaRPr lang="en-US" sz="1600" dirty="0"/>
          </a:p>
        </p:txBody>
      </p:sp>
      <p:sp>
        <p:nvSpPr>
          <p:cNvPr id="39" name="Component text 3"/>
          <p:cNvSpPr txBox="1"/>
          <p:nvPr/>
        </p:nvSpPr>
        <p:spPr>
          <a:xfrm>
            <a:off x="6460236" y="5029200"/>
            <a:ext cx="21099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Forecasts floor-wise demand and optimises lift allocation</a:t>
            </a:r>
            <a:endParaRPr lang="en-US" sz="1400" dirty="0"/>
          </a:p>
        </p:txBody>
      </p:sp>
      <p:sp>
        <p:nvSpPr>
          <p:cNvPr id="40" name="Component card 4"/>
          <p:cNvSpPr/>
          <p:nvPr/>
        </p:nvSpPr>
        <p:spPr>
          <a:xfrm>
            <a:off x="9073134" y="3520440"/>
            <a:ext cx="2567178" cy="269748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/>
        </p:spPr>
      </p:sp>
      <p:sp>
        <p:nvSpPr>
          <p:cNvPr id="41" name="Committee dashboard button"/>
          <p:cNvSpPr/>
          <p:nvPr/>
        </p:nvSpPr>
        <p:spPr>
          <a:xfrm>
            <a:off x="9301734" y="372160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2" name="Committee dashboard icon" descr="Committee dashboard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9867" y="3869741"/>
            <a:ext cx="252374" cy="252374"/>
          </a:xfrm>
          <a:prstGeom prst="rect">
            <a:avLst/>
          </a:prstGeom>
        </p:spPr>
      </p:pic>
      <p:sp>
        <p:nvSpPr>
          <p:cNvPr id="43" name="Component title 4"/>
          <p:cNvSpPr txBox="1"/>
          <p:nvPr/>
        </p:nvSpPr>
        <p:spPr>
          <a:xfrm>
            <a:off x="9301734" y="443484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Committee dashboard</a:t>
            </a:r>
            <a:endParaRPr lang="en-US" sz="1600" dirty="0"/>
          </a:p>
        </p:txBody>
      </p:sp>
      <p:sp>
        <p:nvSpPr>
          <p:cNvPr id="44" name="Component text 4"/>
          <p:cNvSpPr txBox="1"/>
          <p:nvPr/>
        </p:nvSpPr>
        <p:spPr>
          <a:xfrm>
            <a:off x="9301734" y="5029200"/>
            <a:ext cx="21099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Wait-time reports, usage patterns and alerts for the RWA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duct: Benefits &amp; Pricing button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Product: Benefits &amp; Pricing icon" descr="Product: Benefits &amp; Pricin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608990"/>
            <a:ext cx="336499" cy="336499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Product: Benefits &amp; Pricing</a:t>
            </a:r>
            <a:endParaRPr lang="en-US" sz="3400" dirty="0"/>
          </a:p>
        </p:txBody>
      </p:sp>
      <p:sp>
        <p:nvSpPr>
          <p:cNvPr id="6" name="Shorter waits at peak button"/>
          <p:cNvSpPr/>
          <p:nvPr/>
        </p:nvSpPr>
        <p:spPr>
          <a:xfrm>
            <a:off x="548640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Shorter waits at peak icon" descr="Shorter waits at pea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62" y="1727302"/>
            <a:ext cx="294437" cy="294437"/>
          </a:xfrm>
          <a:prstGeom prst="rect">
            <a:avLst/>
          </a:prstGeom>
        </p:spPr>
      </p:pic>
      <p:sp>
        <p:nvSpPr>
          <p:cNvPr id="8" name="Benefit title 1"/>
          <p:cNvSpPr txBox="1"/>
          <p:nvPr/>
        </p:nvSpPr>
        <p:spPr>
          <a:xfrm>
            <a:off x="1417320" y="15087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Shorter waits at peak</a:t>
            </a:r>
            <a:endParaRPr lang="en-US" sz="1800" dirty="0"/>
          </a:p>
        </p:txBody>
      </p:sp>
      <p:sp>
        <p:nvSpPr>
          <p:cNvPr id="9" name="Benefit text 1"/>
          <p:cNvSpPr txBox="1"/>
          <p:nvPr/>
        </p:nvSpPr>
        <p:spPr>
          <a:xfrm>
            <a:off x="1417320" y="19202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Target: cut daily waiting time; to be measured in the pilot</a:t>
            </a:r>
            <a:endParaRPr lang="en-US" sz="1400" dirty="0"/>
          </a:p>
        </p:txBody>
      </p:sp>
      <p:sp>
        <p:nvSpPr>
          <p:cNvPr id="10" name="Fairer for everyone button"/>
          <p:cNvSpPr/>
          <p:nvPr/>
        </p:nvSpPr>
        <p:spPr>
          <a:xfrm>
            <a:off x="548640" y="2697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Fairer for everyone icon" descr="Fairer for everyon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62" y="2870302"/>
            <a:ext cx="294437" cy="294437"/>
          </a:xfrm>
          <a:prstGeom prst="rect">
            <a:avLst/>
          </a:prstGeom>
        </p:spPr>
      </p:pic>
      <p:sp>
        <p:nvSpPr>
          <p:cNvPr id="12" name="Benefit title 2"/>
          <p:cNvSpPr txBox="1"/>
          <p:nvPr/>
        </p:nvSpPr>
        <p:spPr>
          <a:xfrm>
            <a:off x="1417320" y="26517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Fairer for everyone</a:t>
            </a:r>
            <a:endParaRPr lang="en-US" sz="1800" dirty="0"/>
          </a:p>
        </p:txBody>
      </p:sp>
      <p:sp>
        <p:nvSpPr>
          <p:cNvPr id="13" name="Benefit text 2"/>
          <p:cNvSpPr txBox="1"/>
          <p:nvPr/>
        </p:nvSpPr>
        <p:spPr>
          <a:xfrm>
            <a:off x="1417320" y="30632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Fewer full-lift skips for elderly residents, families and staff</a:t>
            </a:r>
            <a:endParaRPr lang="en-US" sz="1400" dirty="0"/>
          </a:p>
        </p:txBody>
      </p:sp>
      <p:sp>
        <p:nvSpPr>
          <p:cNvPr id="14" name="Less overuse, fewer breakdowns button"/>
          <p:cNvSpPr/>
          <p:nvPr/>
        </p:nvSpPr>
        <p:spPr>
          <a:xfrm>
            <a:off x="548640" y="3840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Less overuse, fewer breakdowns icon" descr="Less overuse, fewer breakdown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462" y="4013302"/>
            <a:ext cx="294437" cy="294437"/>
          </a:xfrm>
          <a:prstGeom prst="rect">
            <a:avLst/>
          </a:prstGeom>
        </p:spPr>
      </p:pic>
      <p:sp>
        <p:nvSpPr>
          <p:cNvPr id="16" name="Benefit title 3"/>
          <p:cNvSpPr txBox="1"/>
          <p:nvPr/>
        </p:nvSpPr>
        <p:spPr>
          <a:xfrm>
            <a:off x="1417320" y="37947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Less overuse, fewer breakdowns</a:t>
            </a:r>
            <a:endParaRPr lang="en-US" sz="1800" dirty="0"/>
          </a:p>
        </p:txBody>
      </p:sp>
      <p:sp>
        <p:nvSpPr>
          <p:cNvPr id="17" name="Benefit text 3"/>
          <p:cNvSpPr txBox="1"/>
          <p:nvPr/>
        </p:nvSpPr>
        <p:spPr>
          <a:xfrm>
            <a:off x="1417320" y="42062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Smoother load spreading means less wear and fewer complaints</a:t>
            </a:r>
            <a:endParaRPr lang="en-US" sz="1400" dirty="0"/>
          </a:p>
        </p:txBody>
      </p:sp>
      <p:sp>
        <p:nvSpPr>
          <p:cNvPr id="18" name="Fast, low-disruption install button"/>
          <p:cNvSpPr/>
          <p:nvPr/>
        </p:nvSpPr>
        <p:spPr>
          <a:xfrm>
            <a:off x="548640" y="4983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Fast, low-disruption install icon" descr="Fast, low-disruption install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462" y="5156302"/>
            <a:ext cx="294437" cy="294437"/>
          </a:xfrm>
          <a:prstGeom prst="rect">
            <a:avLst/>
          </a:prstGeom>
        </p:spPr>
      </p:pic>
      <p:sp>
        <p:nvSpPr>
          <p:cNvPr id="20" name="Benefit title 4"/>
          <p:cNvSpPr txBox="1"/>
          <p:nvPr/>
        </p:nvSpPr>
        <p:spPr>
          <a:xfrm>
            <a:off x="1417320" y="49377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Fast, low-disruption install</a:t>
            </a:r>
            <a:endParaRPr lang="en-US" sz="1800" dirty="0"/>
          </a:p>
        </p:txBody>
      </p:sp>
      <p:sp>
        <p:nvSpPr>
          <p:cNvPr id="21" name="Benefit text 4"/>
          <p:cNvSpPr txBox="1"/>
          <p:nvPr/>
        </p:nvSpPr>
        <p:spPr>
          <a:xfrm>
            <a:off x="1417320" y="53492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lift downtime, far cheaper than replacing or adding lifts</a:t>
            </a:r>
            <a:endParaRPr lang="en-US" sz="1400" dirty="0"/>
          </a:p>
        </p:txBody>
      </p:sp>
      <p:sp>
        <p:nvSpPr>
          <p:cNvPr id="22" name="Pricing card"/>
          <p:cNvSpPr/>
          <p:nvPr/>
        </p:nvSpPr>
        <p:spPr>
          <a:xfrm>
            <a:off x="7680960" y="1463040"/>
            <a:ext cx="3959352" cy="4709160"/>
          </a:xfrm>
          <a:prstGeom prst="roundRect">
            <a:avLst>
              <a:gd name="adj" fmla="val 2771"/>
            </a:avLst>
          </a:prstGeom>
          <a:solidFill>
            <a:schemeClr val="tx1"/>
          </a:solidFill>
          <a:ln/>
        </p:spPr>
      </p:sp>
      <p:sp>
        <p:nvSpPr>
          <p:cNvPr id="23" name="Pricing label"/>
          <p:cNvSpPr txBox="1"/>
          <p:nvPr/>
        </p:nvSpPr>
        <p:spPr>
          <a:xfrm>
            <a:off x="8001000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PRICING PER BUILDING</a:t>
            </a:r>
            <a:endParaRPr lang="en-US" sz="1300" dirty="0"/>
          </a:p>
        </p:txBody>
      </p:sp>
      <p:sp>
        <p:nvSpPr>
          <p:cNvPr id="24" name="Install price"/>
          <p:cNvSpPr txBox="1"/>
          <p:nvPr/>
        </p:nvSpPr>
        <p:spPr>
          <a:xfrm>
            <a:off x="8001000" y="21488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₹1.2 lakh</a:t>
            </a:r>
            <a:endParaRPr lang="en-US" sz="4000" dirty="0"/>
          </a:p>
        </p:txBody>
      </p:sp>
      <p:sp>
        <p:nvSpPr>
          <p:cNvPr id="25" name="Install price label"/>
          <p:cNvSpPr txBox="1"/>
          <p:nvPr/>
        </p:nvSpPr>
        <p:spPr>
          <a:xfrm>
            <a:off x="8001000" y="2788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one-time installation fee</a:t>
            </a:r>
            <a:endParaRPr lang="en-US" sz="1400" dirty="0"/>
          </a:p>
        </p:txBody>
      </p:sp>
      <p:sp>
        <p:nvSpPr>
          <p:cNvPr id="26" name="Subscription price"/>
          <p:cNvSpPr txBox="1"/>
          <p:nvPr/>
        </p:nvSpPr>
        <p:spPr>
          <a:xfrm>
            <a:off x="8001000" y="3291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₹3,000 / month</a:t>
            </a:r>
            <a:endParaRPr lang="en-US" sz="3200" dirty="0"/>
          </a:p>
        </p:txBody>
      </p:sp>
      <p:sp>
        <p:nvSpPr>
          <p:cNvPr id="27" name="Subscription label"/>
          <p:cNvSpPr txBox="1"/>
          <p:nvPr/>
        </p:nvSpPr>
        <p:spPr>
          <a:xfrm>
            <a:off x="8001000" y="38404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subscription: prediction, dashboard and support</a:t>
            </a:r>
            <a:endParaRPr lang="en-US" sz="1400" dirty="0"/>
          </a:p>
        </p:txBody>
      </p:sp>
      <p:sp>
        <p:nvSpPr>
          <p:cNvPr id="28" name="Pricing divider"/>
          <p:cNvSpPr/>
          <p:nvPr/>
        </p:nvSpPr>
        <p:spPr>
          <a:xfrm>
            <a:off x="8001000" y="4526280"/>
            <a:ext cx="3319272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29" name="Pricing comparison"/>
          <p:cNvSpPr txBox="1"/>
          <p:nvPr/>
        </p:nvSpPr>
        <p:spPr>
          <a:xfrm>
            <a:off x="8001000" y="46634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About ₹30 per flat per month for a 100-flat society, versus lakhs of rupees to replace or add a lift</a:t>
            </a:r>
            <a:endParaRPr lang="en-US" sz="1400" dirty="0"/>
          </a:p>
        </p:txBody>
      </p:sp>
      <p:sp>
        <p:nvSpPr>
          <p:cNvPr id="30" name="Pricing note"/>
          <p:cNvSpPr txBox="1"/>
          <p:nvPr/>
        </p:nvSpPr>
        <p:spPr>
          <a:xfrm>
            <a:off x="8001000" y="5577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Illustrative; to be validated with RWAs and a costed bill of materials.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ting Plan button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Marketing Plan icon" descr="Marketing Pla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608990"/>
            <a:ext cx="336499" cy="336499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Marketing Plan</a:t>
            </a:r>
            <a:endParaRPr lang="en-US" sz="3400" dirty="0"/>
          </a:p>
        </p:txBody>
      </p:sp>
      <p:sp>
        <p:nvSpPr>
          <p:cNvPr id="6" name="Target card"/>
          <p:cNvSpPr/>
          <p:nvPr/>
        </p:nvSpPr>
        <p:spPr>
          <a:xfrm>
            <a:off x="548640" y="141732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7" name="Target label"/>
          <p:cNvSpPr txBox="1"/>
          <p:nvPr/>
        </p:nvSpPr>
        <p:spPr>
          <a:xfrm>
            <a:off x="82296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TARGET</a:t>
            </a:r>
            <a:endParaRPr lang="en-US" sz="1300" dirty="0"/>
          </a:p>
        </p:txBody>
      </p:sp>
      <p:sp>
        <p:nvSpPr>
          <p:cNvPr id="8" name="Target text"/>
          <p:cNvSpPr txBox="1"/>
          <p:nvPr/>
        </p:nvSpPr>
        <p:spPr>
          <a:xfrm>
            <a:off x="822960" y="187452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Managing committees of G+10 and taller societies, Mumbai first, then metro and Tier-1 cities</a:t>
            </a:r>
            <a:endParaRPr lang="en-US" sz="1500" dirty="0"/>
          </a:p>
        </p:txBody>
      </p:sp>
      <p:sp>
        <p:nvSpPr>
          <p:cNvPr id="9" name="Positioning card"/>
          <p:cNvSpPr/>
          <p:nvPr/>
        </p:nvSpPr>
        <p:spPr>
          <a:xfrm>
            <a:off x="6199632" y="141732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tx1"/>
          </a:solidFill>
          <a:ln/>
        </p:spPr>
      </p:sp>
      <p:sp>
        <p:nvSpPr>
          <p:cNvPr id="10" name="Positioning label"/>
          <p:cNvSpPr txBox="1"/>
          <p:nvPr/>
        </p:nvSpPr>
        <p:spPr>
          <a:xfrm>
            <a:off x="6473952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POSITIONING</a:t>
            </a:r>
            <a:endParaRPr lang="en-US" sz="1300" dirty="0"/>
          </a:p>
        </p:txBody>
      </p:sp>
      <p:sp>
        <p:nvSpPr>
          <p:cNvPr id="11" name="Positioning text"/>
          <p:cNvSpPr txBox="1"/>
          <p:nvPr/>
        </p:nvSpPr>
        <p:spPr>
          <a:xfrm>
            <a:off x="6473952" y="187452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The smart-lift upgrade you can install without replacing a single lift</a:t>
            </a:r>
            <a:endParaRPr lang="en-US" sz="1500" dirty="0"/>
          </a:p>
        </p:txBody>
      </p:sp>
      <p:sp>
        <p:nvSpPr>
          <p:cNvPr id="12" name="Channel card 1"/>
          <p:cNvSpPr/>
          <p:nvPr/>
        </p:nvSpPr>
        <p:spPr>
          <a:xfrm>
            <a:off x="548640" y="2926080"/>
            <a:ext cx="2567178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3" name="Channel share 1"/>
          <p:cNvSpPr txBox="1"/>
          <p:nvPr/>
        </p:nvSpPr>
        <p:spPr>
          <a:xfrm>
            <a:off x="777240" y="3108960"/>
            <a:ext cx="210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40%</a:t>
            </a:r>
            <a:endParaRPr lang="en-US" sz="4000" dirty="0"/>
          </a:p>
        </p:txBody>
      </p:sp>
      <p:sp>
        <p:nvSpPr>
          <p:cNvPr id="14" name="Channel title 1"/>
          <p:cNvSpPr txBox="1"/>
          <p:nvPr/>
        </p:nvSpPr>
        <p:spPr>
          <a:xfrm>
            <a:off x="777240" y="379476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Direct RWA demos</a:t>
            </a:r>
            <a:endParaRPr lang="en-US" sz="1600" dirty="0"/>
          </a:p>
        </p:txBody>
      </p:sp>
      <p:sp>
        <p:nvSpPr>
          <p:cNvPr id="15" name="Channel text 1"/>
          <p:cNvSpPr txBox="1"/>
          <p:nvPr/>
        </p:nvSpPr>
        <p:spPr>
          <a:xfrm>
            <a:off x="777240" y="4389120"/>
            <a:ext cx="21099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Committee presentations, RWA federation meetings, site walk-throughs</a:t>
            </a:r>
            <a:endParaRPr lang="en-US" sz="1400" dirty="0"/>
          </a:p>
        </p:txBody>
      </p:sp>
      <p:sp>
        <p:nvSpPr>
          <p:cNvPr id="16" name="Channel card 2"/>
          <p:cNvSpPr/>
          <p:nvPr/>
        </p:nvSpPr>
        <p:spPr>
          <a:xfrm>
            <a:off x="3390138" y="2926080"/>
            <a:ext cx="2567178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7" name="Channel share 2"/>
          <p:cNvSpPr txBox="1"/>
          <p:nvPr/>
        </p:nvSpPr>
        <p:spPr>
          <a:xfrm>
            <a:off x="3618738" y="3108960"/>
            <a:ext cx="210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30%</a:t>
            </a:r>
            <a:endParaRPr lang="en-US" sz="4000" dirty="0"/>
          </a:p>
        </p:txBody>
      </p:sp>
      <p:sp>
        <p:nvSpPr>
          <p:cNvPr id="18" name="Channel title 2"/>
          <p:cNvSpPr txBox="1"/>
          <p:nvPr/>
        </p:nvSpPr>
        <p:spPr>
          <a:xfrm>
            <a:off x="3618738" y="379476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Pilots &amp; case studies</a:t>
            </a:r>
            <a:endParaRPr lang="en-US" sz="1600" dirty="0"/>
          </a:p>
        </p:txBody>
      </p:sp>
      <p:sp>
        <p:nvSpPr>
          <p:cNvPr id="19" name="Channel text 2"/>
          <p:cNvSpPr txBox="1"/>
          <p:nvPr/>
        </p:nvSpPr>
        <p:spPr>
          <a:xfrm>
            <a:off x="3618738" y="4389120"/>
            <a:ext cx="21099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Free or low-cost pilots in 2–3 societies with measured results</a:t>
            </a:r>
            <a:endParaRPr lang="en-US" sz="1400" dirty="0"/>
          </a:p>
        </p:txBody>
      </p:sp>
      <p:sp>
        <p:nvSpPr>
          <p:cNvPr id="20" name="Channel card 3"/>
          <p:cNvSpPr/>
          <p:nvPr/>
        </p:nvSpPr>
        <p:spPr>
          <a:xfrm>
            <a:off x="6231636" y="2926080"/>
            <a:ext cx="2567178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1" name="Channel share 3"/>
          <p:cNvSpPr txBox="1"/>
          <p:nvPr/>
        </p:nvSpPr>
        <p:spPr>
          <a:xfrm>
            <a:off x="6460236" y="3108960"/>
            <a:ext cx="210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20%</a:t>
            </a:r>
            <a:endParaRPr lang="en-US" sz="4000" dirty="0"/>
          </a:p>
        </p:txBody>
      </p:sp>
      <p:sp>
        <p:nvSpPr>
          <p:cNvPr id="22" name="Channel title 3"/>
          <p:cNvSpPr txBox="1"/>
          <p:nvPr/>
        </p:nvSpPr>
        <p:spPr>
          <a:xfrm>
            <a:off x="6460236" y="379476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Channel partners</a:t>
            </a:r>
            <a:endParaRPr lang="en-US" sz="1600" dirty="0"/>
          </a:p>
        </p:txBody>
      </p:sp>
      <p:sp>
        <p:nvSpPr>
          <p:cNvPr id="23" name="Channel text 3"/>
          <p:cNvSpPr txBox="1"/>
          <p:nvPr/>
        </p:nvSpPr>
        <p:spPr>
          <a:xfrm>
            <a:off x="6460236" y="4389120"/>
            <a:ext cx="21099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Lift AMC firms, property managers and builders who already serve societies</a:t>
            </a:r>
            <a:endParaRPr lang="en-US" sz="1400" dirty="0"/>
          </a:p>
        </p:txBody>
      </p:sp>
      <p:sp>
        <p:nvSpPr>
          <p:cNvPr id="24" name="Channel card 4"/>
          <p:cNvSpPr/>
          <p:nvPr/>
        </p:nvSpPr>
        <p:spPr>
          <a:xfrm>
            <a:off x="9073134" y="2926080"/>
            <a:ext cx="2567178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5" name="Channel share 4"/>
          <p:cNvSpPr txBox="1"/>
          <p:nvPr/>
        </p:nvSpPr>
        <p:spPr>
          <a:xfrm>
            <a:off x="9301734" y="3108960"/>
            <a:ext cx="210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10%</a:t>
            </a:r>
            <a:endParaRPr lang="en-US" sz="4000" dirty="0"/>
          </a:p>
        </p:txBody>
      </p:sp>
      <p:sp>
        <p:nvSpPr>
          <p:cNvPr id="26" name="Channel title 4"/>
          <p:cNvSpPr txBox="1"/>
          <p:nvPr/>
        </p:nvSpPr>
        <p:spPr>
          <a:xfrm>
            <a:off x="9301734" y="379476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Digital &amp; word of mouth</a:t>
            </a:r>
            <a:endParaRPr lang="en-US" sz="1600" dirty="0"/>
          </a:p>
        </p:txBody>
      </p:sp>
      <p:sp>
        <p:nvSpPr>
          <p:cNvPr id="27" name="Channel text 4"/>
          <p:cNvSpPr txBox="1"/>
          <p:nvPr/>
        </p:nvSpPr>
        <p:spPr>
          <a:xfrm>
            <a:off x="9301734" y="4389120"/>
            <a:ext cx="21099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Resident WhatsApp groups and society-to-society referrals</a:t>
            </a:r>
            <a:endParaRPr lang="en-US" sz="1400" dirty="0"/>
          </a:p>
        </p:txBody>
      </p:sp>
      <p:sp>
        <p:nvSpPr>
          <p:cNvPr id="28" name="Budget strip"/>
          <p:cNvSpPr/>
          <p:nvPr/>
        </p:nvSpPr>
        <p:spPr>
          <a:xfrm>
            <a:off x="548640" y="5577840"/>
            <a:ext cx="11091672" cy="640080"/>
          </a:xfrm>
          <a:prstGeom prst="roundRect">
            <a:avLst>
              <a:gd name="adj" fmla="val 17143"/>
            </a:avLst>
          </a:prstGeom>
          <a:solidFill>
            <a:schemeClr val="tx1"/>
          </a:solidFill>
          <a:ln/>
        </p:spPr>
      </p:sp>
      <p:sp>
        <p:nvSpPr>
          <p:cNvPr id="29" name="Budget text"/>
          <p:cNvSpPr txBox="1"/>
          <p:nvPr/>
        </p:nvSpPr>
        <p:spPr>
          <a:xfrm>
            <a:off x="822960" y="557784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Year-1 marketing budget: ₹5 lakh  |  Message: safety first, privacy first, no lift downtime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line Plan: Year One button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Timeline Plan: Year One icon" descr="Timeline Plan: Year On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608990"/>
            <a:ext cx="336499" cy="336499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Timeline Plan: Year One</a:t>
            </a:r>
            <a:endParaRPr lang="en-US" sz="3400" dirty="0"/>
          </a:p>
        </p:txBody>
      </p:sp>
      <p:sp>
        <p:nvSpPr>
          <p:cNvPr id="6" name="Timeline line"/>
          <p:cNvSpPr/>
          <p:nvPr/>
        </p:nvSpPr>
        <p:spPr>
          <a:xfrm>
            <a:off x="548640" y="2286000"/>
            <a:ext cx="11091672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7" name="Quarter label 1"/>
          <p:cNvSpPr txBox="1"/>
          <p:nvPr/>
        </p:nvSpPr>
        <p:spPr>
          <a:xfrm>
            <a:off x="548640" y="1508760"/>
            <a:ext cx="2567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MONTHS 1–3</a:t>
            </a:r>
            <a:endParaRPr lang="en-US" sz="1300" dirty="0"/>
          </a:p>
        </p:txBody>
      </p:sp>
      <p:sp>
        <p:nvSpPr>
          <p:cNvPr id="8" name="Quarter 1 chip"/>
          <p:cNvSpPr/>
          <p:nvPr/>
        </p:nvSpPr>
        <p:spPr>
          <a:xfrm>
            <a:off x="548640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Quarter 1 chip label"/>
          <p:cNvSpPr txBox="1"/>
          <p:nvPr/>
        </p:nvSpPr>
        <p:spPr>
          <a:xfrm>
            <a:off x="54864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10" name="Quarter title 1"/>
          <p:cNvSpPr txBox="1"/>
          <p:nvPr/>
        </p:nvSpPr>
        <p:spPr>
          <a:xfrm>
            <a:off x="548640" y="2788920"/>
            <a:ext cx="2567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Validate &amp; protect</a:t>
            </a:r>
            <a:endParaRPr lang="en-US" sz="2100" dirty="0"/>
          </a:p>
        </p:txBody>
      </p:sp>
      <p:sp>
        <p:nvSpPr>
          <p:cNvPr id="11" name="Quarter tasks 1"/>
          <p:cNvSpPr txBox="1"/>
          <p:nvPr/>
        </p:nvSpPr>
        <p:spPr>
          <a:xfrm>
            <a:off x="548640" y="3291840"/>
            <a:ext cx="24757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Interview 10+ RWAs on willingness to pay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File the patent application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Costed bill of materials and pricing study</a:t>
            </a:r>
            <a:endParaRPr lang="en-US" sz="1400" dirty="0"/>
          </a:p>
        </p:txBody>
      </p:sp>
      <p:sp>
        <p:nvSpPr>
          <p:cNvPr id="12" name="Quarter label 2"/>
          <p:cNvSpPr txBox="1"/>
          <p:nvPr/>
        </p:nvSpPr>
        <p:spPr>
          <a:xfrm>
            <a:off x="3390138" y="1508760"/>
            <a:ext cx="2567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MONTHS 4–6</a:t>
            </a:r>
            <a:endParaRPr lang="en-US" sz="1300" dirty="0"/>
          </a:p>
        </p:txBody>
      </p:sp>
      <p:sp>
        <p:nvSpPr>
          <p:cNvPr id="13" name="Quarter 2 chip"/>
          <p:cNvSpPr/>
          <p:nvPr/>
        </p:nvSpPr>
        <p:spPr>
          <a:xfrm>
            <a:off x="3390138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Quarter 2 chip label"/>
          <p:cNvSpPr txBox="1"/>
          <p:nvPr/>
        </p:nvSpPr>
        <p:spPr>
          <a:xfrm>
            <a:off x="3390138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15" name="Quarter title 2"/>
          <p:cNvSpPr txBox="1"/>
          <p:nvPr/>
        </p:nvSpPr>
        <p:spPr>
          <a:xfrm>
            <a:off x="3390138" y="2788920"/>
            <a:ext cx="2567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Build prototype</a:t>
            </a:r>
            <a:endParaRPr lang="en-US" sz="2100" dirty="0"/>
          </a:p>
        </p:txBody>
      </p:sp>
      <p:sp>
        <p:nvSpPr>
          <p:cNvPr id="16" name="Quarter tasks 2"/>
          <p:cNvSpPr txBox="1"/>
          <p:nvPr/>
        </p:nvSpPr>
        <p:spPr>
          <a:xfrm>
            <a:off x="3390138" y="3291840"/>
            <a:ext cx="24757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Edge-AI prototype on recorded lobby footage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Elevator-safety expert review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Privacy and consent design</a:t>
            </a:r>
            <a:endParaRPr lang="en-US" sz="1400" dirty="0"/>
          </a:p>
        </p:txBody>
      </p:sp>
      <p:sp>
        <p:nvSpPr>
          <p:cNvPr id="17" name="Quarter label 3"/>
          <p:cNvSpPr txBox="1"/>
          <p:nvPr/>
        </p:nvSpPr>
        <p:spPr>
          <a:xfrm>
            <a:off x="6231636" y="1508760"/>
            <a:ext cx="2567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MONTHS 7–9</a:t>
            </a:r>
            <a:endParaRPr lang="en-US" sz="1300" dirty="0"/>
          </a:p>
        </p:txBody>
      </p:sp>
      <p:sp>
        <p:nvSpPr>
          <p:cNvPr id="18" name="Quarter 3 chip"/>
          <p:cNvSpPr/>
          <p:nvPr/>
        </p:nvSpPr>
        <p:spPr>
          <a:xfrm>
            <a:off x="6231636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Quarter 3 chip label"/>
          <p:cNvSpPr txBox="1"/>
          <p:nvPr/>
        </p:nvSpPr>
        <p:spPr>
          <a:xfrm>
            <a:off x="6231636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3</a:t>
            </a:r>
            <a:endParaRPr lang="en-US" sz="2400" dirty="0"/>
          </a:p>
        </p:txBody>
      </p:sp>
      <p:sp>
        <p:nvSpPr>
          <p:cNvPr id="20" name="Quarter title 3"/>
          <p:cNvSpPr txBox="1"/>
          <p:nvPr/>
        </p:nvSpPr>
        <p:spPr>
          <a:xfrm>
            <a:off x="6231636" y="2788920"/>
            <a:ext cx="2567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Pilot</a:t>
            </a:r>
            <a:endParaRPr lang="en-US" sz="2100" dirty="0"/>
          </a:p>
        </p:txBody>
      </p:sp>
      <p:sp>
        <p:nvSpPr>
          <p:cNvPr id="21" name="Quarter tasks 3"/>
          <p:cNvSpPr txBox="1"/>
          <p:nvPr/>
        </p:nvSpPr>
        <p:spPr>
          <a:xfrm>
            <a:off x="6231636" y="3291840"/>
            <a:ext cx="24757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Install in 2 pilot societies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Measure wait-time reduction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Collect resident testimonials</a:t>
            </a:r>
            <a:endParaRPr lang="en-US" sz="1400" dirty="0"/>
          </a:p>
        </p:txBody>
      </p:sp>
      <p:sp>
        <p:nvSpPr>
          <p:cNvPr id="22" name="Quarter label 4"/>
          <p:cNvSpPr txBox="1"/>
          <p:nvPr/>
        </p:nvSpPr>
        <p:spPr>
          <a:xfrm>
            <a:off x="9073134" y="1508760"/>
            <a:ext cx="2567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MONTHS 10–12</a:t>
            </a:r>
            <a:endParaRPr lang="en-US" sz="1300" dirty="0"/>
          </a:p>
        </p:txBody>
      </p:sp>
      <p:sp>
        <p:nvSpPr>
          <p:cNvPr id="23" name="Quarter 4 chip"/>
          <p:cNvSpPr/>
          <p:nvPr/>
        </p:nvSpPr>
        <p:spPr>
          <a:xfrm>
            <a:off x="9073134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Quarter 4 chip label"/>
          <p:cNvSpPr txBox="1"/>
          <p:nvPr/>
        </p:nvSpPr>
        <p:spPr>
          <a:xfrm>
            <a:off x="9073134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4</a:t>
            </a:r>
            <a:endParaRPr lang="en-US" sz="2400" dirty="0"/>
          </a:p>
        </p:txBody>
      </p:sp>
      <p:sp>
        <p:nvSpPr>
          <p:cNvPr id="25" name="Quarter title 4"/>
          <p:cNvSpPr txBox="1"/>
          <p:nvPr/>
        </p:nvSpPr>
        <p:spPr>
          <a:xfrm>
            <a:off x="9073134" y="2788920"/>
            <a:ext cx="2567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Launch</a:t>
            </a:r>
            <a:endParaRPr lang="en-US" sz="2100" dirty="0"/>
          </a:p>
        </p:txBody>
      </p:sp>
      <p:sp>
        <p:nvSpPr>
          <p:cNvPr id="26" name="Quarter tasks 4"/>
          <p:cNvSpPr txBox="1"/>
          <p:nvPr/>
        </p:nvSpPr>
        <p:spPr>
          <a:xfrm>
            <a:off x="9073134" y="3291840"/>
            <a:ext cx="24757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Convert pilots to paid subscriptions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Install 8 more buildings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Close the ₹35 lakh seed round</a:t>
            </a:r>
            <a:endParaRPr lang="en-US" sz="1400" dirty="0"/>
          </a:p>
        </p:txBody>
      </p:sp>
      <p:sp>
        <p:nvSpPr>
          <p:cNvPr id="27" name="Targets strip"/>
          <p:cNvSpPr/>
          <p:nvPr/>
        </p:nvSpPr>
        <p:spPr>
          <a:xfrm>
            <a:off x="548640" y="5303520"/>
            <a:ext cx="11091672" cy="96012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</p:spPr>
      </p:sp>
      <p:sp>
        <p:nvSpPr>
          <p:cNvPr id="28" name="Target 1"/>
          <p:cNvSpPr txBox="1"/>
          <p:nvPr/>
        </p:nvSpPr>
        <p:spPr>
          <a:xfrm>
            <a:off x="868680" y="5394960"/>
            <a:ext cx="24071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buildings live by month 12</a:t>
            </a:r>
            <a:endParaRPr lang="en-US" sz="1400" dirty="0"/>
          </a:p>
        </p:txBody>
      </p:sp>
      <p:sp>
        <p:nvSpPr>
          <p:cNvPr id="29" name="Target 2"/>
          <p:cNvSpPr txBox="1"/>
          <p:nvPr/>
        </p:nvSpPr>
        <p:spPr>
          <a:xfrm>
            <a:off x="3641598" y="5394960"/>
            <a:ext cx="24071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pilots converted to paid</a:t>
            </a:r>
            <a:endParaRPr lang="en-US" sz="1400" dirty="0"/>
          </a:p>
        </p:txBody>
      </p:sp>
      <p:sp>
        <p:nvSpPr>
          <p:cNvPr id="30" name="Target 3"/>
          <p:cNvSpPr txBox="1"/>
          <p:nvPr/>
        </p:nvSpPr>
        <p:spPr>
          <a:xfrm>
            <a:off x="6414516" y="5394960"/>
            <a:ext cx="24071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patent application filed</a:t>
            </a:r>
            <a:endParaRPr lang="en-US" sz="1400" dirty="0"/>
          </a:p>
        </p:txBody>
      </p:sp>
      <p:sp>
        <p:nvSpPr>
          <p:cNvPr id="31" name="Target 4"/>
          <p:cNvSpPr txBox="1"/>
          <p:nvPr/>
        </p:nvSpPr>
        <p:spPr>
          <a:xfrm>
            <a:off x="9187434" y="5394960"/>
            <a:ext cx="24071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₹35L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seed round closed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WOT Analysis button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SWOT Analysis icon" descr="SWOT Analysi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608990"/>
            <a:ext cx="336499" cy="336499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SWOT Analysis</a:t>
            </a:r>
            <a:endParaRPr lang="en-US" sz="3400" dirty="0"/>
          </a:p>
        </p:txBody>
      </p:sp>
      <p:sp>
        <p:nvSpPr>
          <p:cNvPr id="6" name="Strengths card"/>
          <p:cNvSpPr/>
          <p:nvPr/>
        </p:nvSpPr>
        <p:spPr>
          <a:xfrm>
            <a:off x="548640" y="141732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7" name="Strengths chip"/>
          <p:cNvSpPr/>
          <p:nvPr/>
        </p:nvSpPr>
        <p:spPr>
          <a:xfrm>
            <a:off x="960120" y="16002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trengths chip label"/>
          <p:cNvSpPr txBox="1"/>
          <p:nvPr/>
        </p:nvSpPr>
        <p:spPr>
          <a:xfrm>
            <a:off x="9601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</a:t>
            </a:r>
            <a:endParaRPr lang="en-US" sz="2000" dirty="0"/>
          </a:p>
        </p:txBody>
      </p:sp>
      <p:sp>
        <p:nvSpPr>
          <p:cNvPr id="9" name="Strengths title"/>
          <p:cNvSpPr txBox="1"/>
          <p:nvPr/>
        </p:nvSpPr>
        <p:spPr>
          <a:xfrm>
            <a:off x="1554480" y="1600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Strengths</a:t>
            </a:r>
            <a:endParaRPr lang="en-US" sz="2000" dirty="0"/>
          </a:p>
        </p:txBody>
      </p:sp>
      <p:sp>
        <p:nvSpPr>
          <p:cNvPr id="10" name="Strengths points"/>
          <p:cNvSpPr txBox="1"/>
          <p:nvPr/>
        </p:nvSpPr>
        <p:spPr>
          <a:xfrm>
            <a:off x="960120" y="224028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Retrofit: no lift replacement, no OEM dependence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Reuses existing lobby CCTV, so hardware stays cheap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AI engine transfers to offices, malls, metros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Data advantage grows with every building</a:t>
            </a:r>
            <a:endParaRPr lang="en-US" sz="1400" dirty="0"/>
          </a:p>
        </p:txBody>
      </p:sp>
      <p:sp>
        <p:nvSpPr>
          <p:cNvPr id="11" name="Weaknesses card"/>
          <p:cNvSpPr/>
          <p:nvPr/>
        </p:nvSpPr>
        <p:spPr>
          <a:xfrm>
            <a:off x="6199632" y="141732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2" name="Weaknesses chip"/>
          <p:cNvSpPr/>
          <p:nvPr/>
        </p:nvSpPr>
        <p:spPr>
          <a:xfrm>
            <a:off x="6611112" y="16002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Weaknesses chip label"/>
          <p:cNvSpPr txBox="1"/>
          <p:nvPr/>
        </p:nvSpPr>
        <p:spPr>
          <a:xfrm>
            <a:off x="6611112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W</a:t>
            </a:r>
            <a:endParaRPr lang="en-US" sz="2000" dirty="0"/>
          </a:p>
        </p:txBody>
      </p:sp>
      <p:sp>
        <p:nvSpPr>
          <p:cNvPr id="14" name="Weaknesses title"/>
          <p:cNvSpPr txBox="1"/>
          <p:nvPr/>
        </p:nvSpPr>
        <p:spPr>
          <a:xfrm>
            <a:off x="7205472" y="1600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Weaknesses</a:t>
            </a:r>
            <a:endParaRPr lang="en-US" sz="2000" dirty="0"/>
          </a:p>
        </p:txBody>
      </p:sp>
      <p:sp>
        <p:nvSpPr>
          <p:cNvPr id="15" name="Weaknesses points"/>
          <p:cNvSpPr txBox="1"/>
          <p:nvPr/>
        </p:nvSpPr>
        <p:spPr>
          <a:xfrm>
            <a:off x="6611112" y="224028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validated demand yet: no pilot, LOI or survey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patent filed yet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elevator-safety or hardware certification expertise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costed bill of materials or pricing study</a:t>
            </a:r>
            <a:endParaRPr lang="en-US" sz="1400" dirty="0"/>
          </a:p>
        </p:txBody>
      </p:sp>
      <p:sp>
        <p:nvSpPr>
          <p:cNvPr id="16" name="Opportunities card"/>
          <p:cNvSpPr/>
          <p:nvPr/>
        </p:nvSpPr>
        <p:spPr>
          <a:xfrm>
            <a:off x="548640" y="384048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7" name="Opportunities chip"/>
          <p:cNvSpPr/>
          <p:nvPr/>
        </p:nvSpPr>
        <p:spPr>
          <a:xfrm>
            <a:off x="960120" y="402336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portunities chip label"/>
          <p:cNvSpPr txBox="1"/>
          <p:nvPr/>
        </p:nvSpPr>
        <p:spPr>
          <a:xfrm>
            <a:off x="9601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</a:t>
            </a:r>
            <a:endParaRPr lang="en-US" sz="2000" dirty="0"/>
          </a:p>
        </p:txBody>
      </p:sp>
      <p:sp>
        <p:nvSpPr>
          <p:cNvPr id="19" name="Opportunities title"/>
          <p:cNvSpPr txBox="1"/>
          <p:nvPr/>
        </p:nvSpPr>
        <p:spPr>
          <a:xfrm>
            <a:off x="1554480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Opportunities</a:t>
            </a:r>
            <a:endParaRPr lang="en-US" sz="2000" dirty="0"/>
          </a:p>
        </p:txBody>
      </p:sp>
      <p:sp>
        <p:nvSpPr>
          <p:cNvPr id="20" name="Opportunities points"/>
          <p:cNvSpPr txBox="1"/>
          <p:nvPr/>
        </p:nvSpPr>
        <p:spPr>
          <a:xfrm>
            <a:off x="960120" y="466344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Fast-growing high-rise stock in metro and Tier-1 cities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Rising comfort with AI and smart-building tech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Ageing residents need accessible, fair lift service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Expansion into offices, malls, hospitals, stations</a:t>
            </a:r>
            <a:endParaRPr lang="en-US" sz="1400" dirty="0"/>
          </a:p>
        </p:txBody>
      </p:sp>
      <p:sp>
        <p:nvSpPr>
          <p:cNvPr id="21" name="Threats card"/>
          <p:cNvSpPr/>
          <p:nvPr/>
        </p:nvSpPr>
        <p:spPr>
          <a:xfrm>
            <a:off x="6199632" y="384048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2" name="Threats chip"/>
          <p:cNvSpPr/>
          <p:nvPr/>
        </p:nvSpPr>
        <p:spPr>
          <a:xfrm>
            <a:off x="6611112" y="402336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hreats chip label"/>
          <p:cNvSpPr txBox="1"/>
          <p:nvPr/>
        </p:nvSpPr>
        <p:spPr>
          <a:xfrm>
            <a:off x="6611112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</a:t>
            </a:r>
            <a:endParaRPr lang="en-US" sz="2000" dirty="0"/>
          </a:p>
        </p:txBody>
      </p:sp>
      <p:sp>
        <p:nvSpPr>
          <p:cNvPr id="24" name="Threats title"/>
          <p:cNvSpPr txBox="1"/>
          <p:nvPr/>
        </p:nvSpPr>
        <p:spPr>
          <a:xfrm>
            <a:off x="7205472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Threats</a:t>
            </a:r>
            <a:endParaRPr lang="en-US" sz="2000" dirty="0"/>
          </a:p>
        </p:txBody>
      </p:sp>
      <p:sp>
        <p:nvSpPr>
          <p:cNvPr id="25" name="Threats points"/>
          <p:cNvSpPr txBox="1"/>
          <p:nvPr/>
        </p:nvSpPr>
        <p:spPr>
          <a:xfrm>
            <a:off x="6611112" y="466344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OEMs (Otis, KONE) may launch rival retrofits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Privacy rules on camera use in common areas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Cheap substitutes: staggered use, queue marshals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Fragmented buyers: slow, committee-based sales</a:t>
            </a:r>
            <a:endParaRPr lang="en-US" sz="1400" dirty="0"/>
          </a:p>
        </p:txBody>
      </p:sp>
      <p:sp>
        <p:nvSpPr>
          <p:cNvPr id="26" name="SWOT centre chip"/>
          <p:cNvSpPr/>
          <p:nvPr/>
        </p:nvSpPr>
        <p:spPr>
          <a:xfrm>
            <a:off x="5682996" y="33604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SWOT centre chip label"/>
          <p:cNvSpPr txBox="1"/>
          <p:nvPr/>
        </p:nvSpPr>
        <p:spPr>
          <a:xfrm>
            <a:off x="5682996" y="33604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LiftIQ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nancial Plan button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Financial Plan icon" descr="Financial Pla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608990"/>
            <a:ext cx="336499" cy="336499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Financial Plan</a:t>
            </a:r>
            <a:endParaRPr lang="en-US" sz="3400" dirty="0"/>
          </a:p>
        </p:txBody>
      </p:sp>
      <p:graphicFrame>
        <p:nvGraphicFramePr>
          <p:cNvPr id="12" name="Financial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0408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28016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₹ lakh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Year 1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Year 2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Year 3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New buildings installed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Buildings live (cumulative)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170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Installation revenue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12.0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48.0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144.0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Subscription revenue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10.8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39.6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Total revenue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12.9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58.8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183.6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Direct costs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(7.7)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(30.7)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(87.9)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Gross profit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5.2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28.1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95.7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Operating expenses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(24.0)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(40.0)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(70.0)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Net profit / (loss)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(18.8)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(11.9)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25.7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Cumulative cash, before funding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(18.8)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(30.7)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(5.0)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Unit economics card"/>
          <p:cNvSpPr/>
          <p:nvPr/>
        </p:nvSpPr>
        <p:spPr>
          <a:xfrm>
            <a:off x="7863840" y="1417320"/>
            <a:ext cx="3776472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/>
        </p:spPr>
      </p:sp>
      <p:sp>
        <p:nvSpPr>
          <p:cNvPr id="8" name="Unit economics title"/>
          <p:cNvSpPr txBox="1"/>
          <p:nvPr/>
        </p:nvSpPr>
        <p:spPr>
          <a:xfrm>
            <a:off x="8138160" y="1600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Unit economics per building</a:t>
            </a:r>
            <a:endParaRPr lang="en-US" sz="1600" dirty="0"/>
          </a:p>
        </p:txBody>
      </p:sp>
      <p:sp>
        <p:nvSpPr>
          <p:cNvPr id="9" name="Unit economics points"/>
          <p:cNvSpPr txBox="1"/>
          <p:nvPr/>
        </p:nvSpPr>
        <p:spPr>
          <a:xfrm>
            <a:off x="8138160" y="201168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Install fee ₹1,20,000 against ₹75,000 cost, falling to ₹65,000 by Year 3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Subscription ₹36,000 a year against about ₹9,000 to serve</a:t>
            </a:r>
            <a:endParaRPr lang="en-US" sz="1400" dirty="0"/>
          </a:p>
        </p:txBody>
      </p:sp>
      <p:sp>
        <p:nvSpPr>
          <p:cNvPr id="10" name="Funding card"/>
          <p:cNvSpPr/>
          <p:nvPr/>
        </p:nvSpPr>
        <p:spPr>
          <a:xfrm>
            <a:off x="7863840" y="3977640"/>
            <a:ext cx="3776472" cy="1463040"/>
          </a:xfrm>
          <a:prstGeom prst="roundRect">
            <a:avLst>
              <a:gd name="adj" fmla="val 7500"/>
            </a:avLst>
          </a:prstGeom>
          <a:solidFill>
            <a:schemeClr val="tx1"/>
          </a:solidFill>
          <a:ln/>
        </p:spPr>
      </p:sp>
      <p:sp>
        <p:nvSpPr>
          <p:cNvPr id="11" name="Funding label"/>
          <p:cNvSpPr txBox="1"/>
          <p:nvPr/>
        </p:nvSpPr>
        <p:spPr>
          <a:xfrm>
            <a:off x="8138160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FUNDING NEED</a:t>
            </a:r>
            <a:endParaRPr lang="en-US" sz="1200" dirty="0"/>
          </a:p>
        </p:txBody>
      </p:sp>
      <p:sp>
        <p:nvSpPr>
          <p:cNvPr id="12" name="Funding value"/>
          <p:cNvSpPr txBox="1"/>
          <p:nvPr/>
        </p:nvSpPr>
        <p:spPr>
          <a:xfrm>
            <a:off x="8138160" y="4389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₹35 lakh</a:t>
            </a:r>
            <a:endParaRPr lang="en-US" sz="3400" dirty="0"/>
          </a:p>
        </p:txBody>
      </p:sp>
      <p:sp>
        <p:nvSpPr>
          <p:cNvPr id="13" name="Funding text"/>
          <p:cNvSpPr txBox="1"/>
          <p:nvPr/>
        </p:nvSpPr>
        <p:spPr>
          <a:xfrm>
            <a:off x="8138160" y="4937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Seed covers a peak cash burn of about ₹31L</a:t>
            </a:r>
            <a:endParaRPr lang="en-US" sz="1400" dirty="0"/>
          </a:p>
        </p:txBody>
      </p:sp>
      <p:sp>
        <p:nvSpPr>
          <p:cNvPr id="14" name="Financial note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Operating expenses cover team, R&amp;D, marketing (₹5L in Year 1), patent and compliance. All figures are illustrative planning assumptions pending a costed bill of materials, a pricing study and a pilot.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mpetitor Analysis button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Competitor Analysis icon" descr="Competitor Analysi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608990"/>
            <a:ext cx="336499" cy="336499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Competitor Analysis</a:t>
            </a:r>
            <a:endParaRPr lang="en-US" sz="3400" dirty="0"/>
          </a:p>
        </p:txBody>
      </p:sp>
      <p:graphicFrame>
        <p:nvGraphicFramePr>
          <p:cNvPr id="13" name="Competito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2560320"/>
                <a:gridCol w="1828800"/>
                <a:gridCol w="1645920"/>
                <a:gridCol w="1490472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Option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Works on existing lifts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AI demand prediction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Upfront cost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Install disruption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OEM smart dispatch (Otis, KONE, Hitachi, Mitsubishi)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No: needs new lifts or control-board swap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Lift replacement or adding new lifts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No: replaces them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Only with OEM option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Lakhs per lift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Basic non-AI call display boards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Low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Low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Staggered schedules, queue marshals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Very low, ongoing staff cost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None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LiftIQ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Yes: retrofit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Moderate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Low: no lift downtime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7" name="Gap card"/>
          <p:cNvSpPr/>
          <p:nvPr/>
        </p:nvSpPr>
        <p:spPr>
          <a:xfrm>
            <a:off x="548640" y="5257800"/>
            <a:ext cx="11091672" cy="96012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</p:spPr>
      </p:sp>
      <p:sp>
        <p:nvSpPr>
          <p:cNvPr id="8" name="Gap text"/>
          <p:cNvSpPr txBox="1"/>
          <p:nvPr/>
        </p:nvSpPr>
        <p:spPr>
          <a:xfrm>
            <a:off x="868680" y="5257800"/>
            <a:ext cx="10451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Our gap: AI-grade prediction for the thousands of lifts that will never be replaced. Few direct AI-retrofit rivals are known today; we will confirm this with a market and patent search.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ey Risks &amp; Mitigation button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Key Risks &amp; Mitigation icon" descr="Key Risks &amp; Mitigatio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608990"/>
            <a:ext cx="336499" cy="336499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Key Risks &amp; Mitigation</a:t>
            </a:r>
            <a:endParaRPr lang="en-US" sz="3400" dirty="0"/>
          </a:p>
        </p:txBody>
      </p:sp>
      <p:sp>
        <p:nvSpPr>
          <p:cNvPr id="6" name="Risk row 1"/>
          <p:cNvSpPr/>
          <p:nvPr/>
        </p:nvSpPr>
        <p:spPr>
          <a:xfrm>
            <a:off x="548640" y="1417320"/>
            <a:ext cx="11091672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7" name="Unproven willingness to pay button"/>
          <p:cNvSpPr/>
          <p:nvPr/>
        </p:nvSpPr>
        <p:spPr>
          <a:xfrm>
            <a:off x="777240" y="157276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Unproven willingness to pay icon" descr="Unproven willingness to pay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373" y="1720901"/>
            <a:ext cx="252374" cy="252374"/>
          </a:xfrm>
          <a:prstGeom prst="rect">
            <a:avLst/>
          </a:prstGeom>
        </p:spPr>
      </p:pic>
      <p:sp>
        <p:nvSpPr>
          <p:cNvPr id="9" name="Risk title 1"/>
          <p:cNvSpPr txBox="1"/>
          <p:nvPr/>
        </p:nvSpPr>
        <p:spPr>
          <a:xfrm>
            <a:off x="1554480" y="14173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Unproven willingness to pay</a:t>
            </a:r>
            <a:endParaRPr lang="en-US" sz="1600" dirty="0"/>
          </a:p>
        </p:txBody>
      </p:sp>
      <p:sp>
        <p:nvSpPr>
          <p:cNvPr id="10" name="Mitigation 1"/>
          <p:cNvSpPr txBox="1"/>
          <p:nvPr/>
        </p:nvSpPr>
        <p:spPr>
          <a:xfrm>
            <a:off x="4937760" y="141732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Hold informal pricing talks with 2–3 RWAs and run a free or low-cost pilot before heavier hardware spend.</a:t>
            </a:r>
            <a:endParaRPr lang="en-US" sz="1400" dirty="0"/>
          </a:p>
        </p:txBody>
      </p:sp>
      <p:sp>
        <p:nvSpPr>
          <p:cNvPr id="11" name="Risk row 2"/>
          <p:cNvSpPr/>
          <p:nvPr/>
        </p:nvSpPr>
        <p:spPr>
          <a:xfrm>
            <a:off x="548640" y="2377440"/>
            <a:ext cx="11091672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2" name="Camera privacy concerns button"/>
          <p:cNvSpPr/>
          <p:nvPr/>
        </p:nvSpPr>
        <p:spPr>
          <a:xfrm>
            <a:off x="777240" y="253288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Camera privacy concerns icon" descr="Camera privacy concern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3" y="2681021"/>
            <a:ext cx="252374" cy="252374"/>
          </a:xfrm>
          <a:prstGeom prst="rect">
            <a:avLst/>
          </a:prstGeom>
        </p:spPr>
      </p:pic>
      <p:sp>
        <p:nvSpPr>
          <p:cNvPr id="14" name="Risk title 2"/>
          <p:cNvSpPr txBox="1"/>
          <p:nvPr/>
        </p:nvSpPr>
        <p:spPr>
          <a:xfrm>
            <a:off x="1554480" y="23774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Camera privacy concerns</a:t>
            </a:r>
            <a:endParaRPr lang="en-US" sz="1600" dirty="0"/>
          </a:p>
        </p:txBody>
      </p:sp>
      <p:sp>
        <p:nvSpPr>
          <p:cNvPr id="15" name="Mitigation 2"/>
          <p:cNvSpPr txBox="1"/>
          <p:nvPr/>
        </p:nvSpPr>
        <p:spPr>
          <a:xfrm>
            <a:off x="4937760" y="237744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Process video on the device, keep only counts, get society consent and display clear notices.</a:t>
            </a:r>
            <a:endParaRPr lang="en-US" sz="1400" dirty="0"/>
          </a:p>
        </p:txBody>
      </p:sp>
      <p:sp>
        <p:nvSpPr>
          <p:cNvPr id="16" name="Risk row 3"/>
          <p:cNvSpPr/>
          <p:nvPr/>
        </p:nvSpPr>
        <p:spPr>
          <a:xfrm>
            <a:off x="548640" y="3337560"/>
            <a:ext cx="11091672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7" name="OEM response and cheap substitutes button"/>
          <p:cNvSpPr/>
          <p:nvPr/>
        </p:nvSpPr>
        <p:spPr>
          <a:xfrm>
            <a:off x="777240" y="349300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OEM response and cheap substitutes icon" descr="OEM response and cheap substitute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73" y="3641141"/>
            <a:ext cx="252374" cy="252374"/>
          </a:xfrm>
          <a:prstGeom prst="rect">
            <a:avLst/>
          </a:prstGeom>
        </p:spPr>
      </p:pic>
      <p:sp>
        <p:nvSpPr>
          <p:cNvPr id="19" name="Risk title 3"/>
          <p:cNvSpPr txBox="1"/>
          <p:nvPr/>
        </p:nvSpPr>
        <p:spPr>
          <a:xfrm>
            <a:off x="1554480" y="33375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OEM response and cheap substitutes</a:t>
            </a:r>
            <a:endParaRPr lang="en-US" sz="1600" dirty="0"/>
          </a:p>
        </p:txBody>
      </p:sp>
      <p:sp>
        <p:nvSpPr>
          <p:cNvPr id="20" name="Mitigation 3"/>
          <p:cNvSpPr txBox="1"/>
          <p:nvPr/>
        </p:nvSpPr>
        <p:spPr>
          <a:xfrm>
            <a:off x="4937760" y="333756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File the patent early; focus on the retrofit niche that OEMs are unlikely to prioritise.</a:t>
            </a:r>
            <a:endParaRPr lang="en-US" sz="1400" dirty="0"/>
          </a:p>
        </p:txBody>
      </p:sp>
      <p:sp>
        <p:nvSpPr>
          <p:cNvPr id="21" name="Risk row 4"/>
          <p:cNvSpPr/>
          <p:nvPr/>
        </p:nvSpPr>
        <p:spPr>
          <a:xfrm>
            <a:off x="548640" y="4297680"/>
            <a:ext cx="11091672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2" name="Fragmented, slow buyers button"/>
          <p:cNvSpPr/>
          <p:nvPr/>
        </p:nvSpPr>
        <p:spPr>
          <a:xfrm>
            <a:off x="777240" y="44531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Fragmented, slow buyers icon" descr="Fragmented, slow buyers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373" y="4601261"/>
            <a:ext cx="252374" cy="252374"/>
          </a:xfrm>
          <a:prstGeom prst="rect">
            <a:avLst/>
          </a:prstGeom>
        </p:spPr>
      </p:pic>
      <p:sp>
        <p:nvSpPr>
          <p:cNvPr id="24" name="Risk title 4"/>
          <p:cNvSpPr txBox="1"/>
          <p:nvPr/>
        </p:nvSpPr>
        <p:spPr>
          <a:xfrm>
            <a:off x="1554480" y="42976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Fragmented, slow buyers</a:t>
            </a:r>
            <a:endParaRPr lang="en-US" sz="1600" dirty="0"/>
          </a:p>
        </p:txBody>
      </p:sp>
      <p:sp>
        <p:nvSpPr>
          <p:cNvPr id="25" name="Mitigation 4"/>
          <p:cNvSpPr txBox="1"/>
          <p:nvPr/>
        </p:nvSpPr>
        <p:spPr>
          <a:xfrm>
            <a:off x="4937760" y="429768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Work through lift AMC firms and property managers; use society-to-society referrals.</a:t>
            </a:r>
            <a:endParaRPr lang="en-US" sz="1400" dirty="0"/>
          </a:p>
        </p:txBody>
      </p:sp>
      <p:sp>
        <p:nvSpPr>
          <p:cNvPr id="26" name="Risk row 5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7" name="Safety and hardware expertise gap button"/>
          <p:cNvSpPr/>
          <p:nvPr/>
        </p:nvSpPr>
        <p:spPr>
          <a:xfrm>
            <a:off x="777240" y="541324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Safety and hardware expertise gap icon" descr="Safety and hardware expertise gap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373" y="5561381"/>
            <a:ext cx="252374" cy="252374"/>
          </a:xfrm>
          <a:prstGeom prst="rect">
            <a:avLst/>
          </a:prstGeom>
        </p:spPr>
      </p:pic>
      <p:sp>
        <p:nvSpPr>
          <p:cNvPr id="29" name="Risk title 5"/>
          <p:cNvSpPr txBox="1"/>
          <p:nvPr/>
        </p:nvSpPr>
        <p:spPr>
          <a:xfrm>
            <a:off x="1554480" y="52578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Safety and hardware expertise gap</a:t>
            </a:r>
            <a:endParaRPr lang="en-US" sz="1600" dirty="0"/>
          </a:p>
        </p:txBody>
      </p:sp>
      <p:sp>
        <p:nvSpPr>
          <p:cNvPr id="30" name="Mitigation 5"/>
          <p:cNvSpPr txBox="1"/>
          <p:nvPr/>
        </p:nvSpPr>
        <p:spPr>
          <a:xfrm>
            <a:off x="4937760" y="525780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Bring in an elevator-safety advisor and an installation partner before any pilot.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Let’s put LiftIQ in a real building</a:t>
            </a:r>
            <a:endParaRPr lang="en-US" sz="4800" dirty="0"/>
          </a:p>
        </p:txBody>
      </p:sp>
      <p:sp>
        <p:nvSpPr>
          <p:cNvPr id="3" name="Closing subtitle"/>
          <p:cNvSpPr txBox="1"/>
          <p:nvPr/>
        </p:nvSpPr>
        <p:spPr>
          <a:xfrm>
            <a:off x="731520" y="1920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The concept is built on paper. The next step is a pilot that turns assumptions into evidence.</a:t>
            </a:r>
            <a:endParaRPr lang="en-US" sz="2000" dirty="0"/>
          </a:p>
        </p:txBody>
      </p:sp>
      <p:sp>
        <p:nvSpPr>
          <p:cNvPr id="4" name="Ask label"/>
          <p:cNvSpPr txBox="1"/>
          <p:nvPr/>
        </p:nvSpPr>
        <p:spPr>
          <a:xfrm>
            <a:off x="73152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WHAT WE NEED</a:t>
            </a:r>
            <a:endParaRPr lang="en-US" sz="1400" dirty="0"/>
          </a:p>
        </p:txBody>
      </p:sp>
      <p:sp>
        <p:nvSpPr>
          <p:cNvPr id="5" name="Ask card 1"/>
          <p:cNvSpPr/>
          <p:nvPr/>
        </p:nvSpPr>
        <p:spPr>
          <a:xfrm>
            <a:off x="731520" y="3154680"/>
            <a:ext cx="3383280" cy="1965960"/>
          </a:xfrm>
          <a:prstGeom prst="roundRect">
            <a:avLst>
              <a:gd name="adj" fmla="val 5581"/>
            </a:avLst>
          </a:prstGeom>
          <a:solidFill>
            <a:schemeClr val="tx2"/>
          </a:solidFill>
          <a:ln/>
        </p:spPr>
      </p:sp>
      <p:sp>
        <p:nvSpPr>
          <p:cNvPr id="6" name="Ask value 1"/>
          <p:cNvSpPr txBox="1"/>
          <p:nvPr/>
        </p:nvSpPr>
        <p:spPr>
          <a:xfrm>
            <a:off x="1051560" y="3337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₹35L</a:t>
            </a:r>
            <a:endParaRPr lang="en-US" sz="4800" dirty="0"/>
          </a:p>
        </p:txBody>
      </p:sp>
      <p:sp>
        <p:nvSpPr>
          <p:cNvPr id="7" name="Ask text 1"/>
          <p:cNvSpPr txBox="1"/>
          <p:nvPr/>
        </p:nvSpPr>
        <p:spPr>
          <a:xfrm>
            <a:off x="1051560" y="4206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seed funding to reach Year-3 breakeven</a:t>
            </a:r>
            <a:endParaRPr lang="en-US" sz="1600" dirty="0"/>
          </a:p>
        </p:txBody>
      </p:sp>
      <p:sp>
        <p:nvSpPr>
          <p:cNvPr id="8" name="Ask card 2"/>
          <p:cNvSpPr/>
          <p:nvPr/>
        </p:nvSpPr>
        <p:spPr>
          <a:xfrm>
            <a:off x="4480560" y="3154680"/>
            <a:ext cx="3383280" cy="1965960"/>
          </a:xfrm>
          <a:prstGeom prst="roundRect">
            <a:avLst>
              <a:gd name="adj" fmla="val 5581"/>
            </a:avLst>
          </a:prstGeom>
          <a:solidFill>
            <a:schemeClr val="tx2"/>
          </a:solidFill>
          <a:ln/>
        </p:spPr>
      </p:sp>
      <p:sp>
        <p:nvSpPr>
          <p:cNvPr id="9" name="Ask value 2"/>
          <p:cNvSpPr txBox="1"/>
          <p:nvPr/>
        </p:nvSpPr>
        <p:spPr>
          <a:xfrm>
            <a:off x="4800600" y="3337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2–3</a:t>
            </a:r>
            <a:endParaRPr lang="en-US" sz="4800" dirty="0"/>
          </a:p>
        </p:txBody>
      </p:sp>
      <p:sp>
        <p:nvSpPr>
          <p:cNvPr id="10" name="Ask text 2"/>
          <p:cNvSpPr txBox="1"/>
          <p:nvPr/>
        </p:nvSpPr>
        <p:spPr>
          <a:xfrm>
            <a:off x="4800600" y="4206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societies willing to host a free or low-cost pilot</a:t>
            </a:r>
            <a:endParaRPr lang="en-US" sz="1600" dirty="0"/>
          </a:p>
        </p:txBody>
      </p:sp>
      <p:sp>
        <p:nvSpPr>
          <p:cNvPr id="11" name="Ask card 3"/>
          <p:cNvSpPr/>
          <p:nvPr/>
        </p:nvSpPr>
        <p:spPr>
          <a:xfrm>
            <a:off x="8229600" y="3154680"/>
            <a:ext cx="3383280" cy="1965960"/>
          </a:xfrm>
          <a:prstGeom prst="roundRect">
            <a:avLst>
              <a:gd name="adj" fmla="val 5581"/>
            </a:avLst>
          </a:prstGeom>
          <a:solidFill>
            <a:schemeClr val="tx2"/>
          </a:solidFill>
          <a:ln/>
        </p:spPr>
      </p:sp>
      <p:sp>
        <p:nvSpPr>
          <p:cNvPr id="12" name="Ask value 3"/>
          <p:cNvSpPr txBox="1"/>
          <p:nvPr/>
        </p:nvSpPr>
        <p:spPr>
          <a:xfrm>
            <a:off x="8549640" y="3337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</a:t>
            </a:r>
            <a:endParaRPr lang="en-US" sz="4800" dirty="0"/>
          </a:p>
        </p:txBody>
      </p:sp>
      <p:sp>
        <p:nvSpPr>
          <p:cNvPr id="13" name="Ask text 3"/>
          <p:cNvSpPr txBox="1"/>
          <p:nvPr/>
        </p:nvSpPr>
        <p:spPr>
          <a:xfrm>
            <a:off x="8549640" y="4206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elevator-safety advisor to guide safe deployment</a:t>
            </a:r>
            <a:endParaRPr lang="en-US" sz="1600" dirty="0"/>
          </a:p>
        </p:txBody>
      </p:sp>
      <p:sp>
        <p:nvSpPr>
          <p:cNvPr id="14" name="Thank you"/>
          <p:cNvSpPr txBox="1"/>
          <p:nvPr/>
        </p:nvSpPr>
        <p:spPr>
          <a:xfrm>
            <a:off x="73152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Thank you  |  Group No. 9: Ultron  |  UCIDs 11, 15, 25, 62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ftIQ">
  <a:themeElements>
    <a:clrScheme name="LiftIQ">
      <a:dk1>
        <a:srgbClr val="0F1B2D"/>
      </a:dk1>
      <a:lt1>
        <a:srgbClr val="FFFFFF"/>
      </a:lt1>
      <a:dk2>
        <a:srgbClr val="2B4162"/>
      </a:dk2>
      <a:lt2>
        <a:srgbClr val="EEF1F5"/>
      </a:lt2>
      <a:accent1>
        <a:srgbClr val="FFB703"/>
      </a:accent1>
      <a:accent2>
        <a:srgbClr val="1F9E8F"/>
      </a:accent2>
      <a:accent3>
        <a:srgbClr val="E4572E"/>
      </a:accent3>
      <a:accent4>
        <a:srgbClr val="4A6FA5"/>
      </a:accent4>
      <a:accent5>
        <a:srgbClr val="5B6779"/>
      </a:accent5>
      <a:accent6>
        <a:srgbClr val="DDE3EA"/>
      </a:accent6>
      <a:hlink>
        <a:srgbClr val="4A6FA5"/>
      </a:hlink>
      <a:folHlink>
        <a:srgbClr val="5B6779"/>
      </a:folHlink>
    </a:clrScheme>
    <a:fontScheme name="LiftIQ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LiftIQ Business Plan</dc:title>
  <dc:subject>PptxGenJS Presentation</dc:subject>
  <dc:creator>Group No. 9: Ultron</dc:creator>
  <cp:lastModifiedBy>Group No. 9: Ultron</cp:lastModifiedBy>
  <cp:revision>1</cp:revision>
  <dcterms:created xsi:type="dcterms:W3CDTF">2026-10-25T12:27:00Z</dcterms:created>
  <dcterms:modified xsi:type="dcterms:W3CDTF">2026-10-25T12:27:00Z</dcterms:modified>
</cp:coreProperties>
</file>